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Arial"/>
        <a:ea typeface="微软雅黑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Arial"/>
        <a:ea typeface="微软雅黑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Arial"/>
        <a:ea typeface="微软雅黑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Arial"/>
        <a:ea typeface="微软雅黑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Arial"/>
        <a:ea typeface="微软雅黑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Arial"/>
        <a:ea typeface="微软雅黑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Arial"/>
        <a:ea typeface="微软雅黑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Arial"/>
        <a:ea typeface="微软雅黑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Arial"/>
        <a:ea typeface="微软雅黑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症状缓解中位时间</c:v>
                </c:pt>
              </c:strCache>
            </c:strRef>
          </c:tx>
          <c:spPr>
            <a:solidFill>
              <a:srgbClr val="07523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75238"/>
                    </a:solidFill>
                    <a:latin typeface="Arial"/>
                    <a:ea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7523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8B58B"/>
              </a:solidFill>
              <a:effectLst/>
            </c:spPr>
          </c:dPt>
          <c:cat>
            <c:strRef>
              <c:f>Sheet1!$A$2:$A$3</c:f>
              <c:strCache>
                <c:ptCount val="2"/>
                <c:pt idx="0">
                  <c:v>巴洛沙韦</c:v>
                </c:pt>
                <c:pt idx="1">
                  <c:v>安慰剂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53.7</c:v>
                </c:pt>
                <c:pt idx="1">
                  <c:v>80.2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075238"/>
                  </a:solidFill>
                  <a:latin typeface="Arial"/>
                  <a:ea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8890" cap="flat">
            <a:solidFill>
              <a:srgbClr val="65776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4137"/>
                </a:solidFill>
                <a:latin typeface="Arial"/>
                <a:ea typeface="微软雅黑"/>
              </a:defRPr>
            </a:pPr>
            <a:endParaRPr lang="en-US">
              <a:latin typeface="Arial"/>
              <a:ea typeface="微软雅黑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0.0" sourceLinked="0"/>
        <c:majorTickMark val="outside"/>
        <c:minorTickMark val="none"/>
        <c:tickLblPos val="nextTo"/>
        <c:spPr>
          <a:ln w="8890" cap="flat">
            <a:solidFill>
              <a:srgbClr val="65776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4137"/>
                </a:solidFill>
                <a:latin typeface="Arial"/>
                <a:ea typeface="微软雅黑"/>
              </a:defRPr>
            </a:pPr>
            <a:endParaRPr lang="en-US">
              <a:latin typeface="Arial"/>
              <a:ea typeface="微软雅黑"/>
            </a:endParaRPr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选择性比值</c:v>
                </c:pt>
              </c:strCache>
            </c:strRef>
          </c:tx>
          <c:spPr>
            <a:solidFill>
              <a:srgbClr val="07523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75238"/>
                    </a:solidFill>
                    <a:latin typeface="Arial"/>
                    <a:ea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7523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8B58B"/>
              </a:solidFill>
              <a:effectLst/>
            </c:spPr>
          </c:dPt>
          <c:cat>
            <c:strRef>
              <c:f>Sheet1!$A$2:$A$3</c:f>
              <c:strCache>
                <c:ptCount val="2"/>
                <c:pt idx="0">
                  <c:v>季节性H1N1（2007）</c:v>
                </c:pt>
                <c:pt idx="1">
                  <c:v>大流行H1N1（2009）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2.5</c:v>
                </c:pt>
                <c:pt idx="1">
                  <c:v>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075238"/>
                  </a:solidFill>
                  <a:latin typeface="Arial"/>
                  <a:ea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8890" cap="flat">
            <a:solidFill>
              <a:srgbClr val="65776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4137"/>
                </a:solidFill>
                <a:latin typeface="Arial"/>
                <a:ea typeface="微软雅黑"/>
              </a:defRPr>
            </a:pPr>
            <a:endParaRPr lang="en-US">
              <a:latin typeface="Arial"/>
              <a:ea typeface="微软雅黑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numFmt formatCode="0.0" sourceLinked="0"/>
        <c:majorTickMark val="outside"/>
        <c:minorTickMark val="none"/>
        <c:tickLblPos val="nextTo"/>
        <c:spPr>
          <a:ln w="8890" cap="flat">
            <a:solidFill>
              <a:srgbClr val="65776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4137"/>
                </a:solidFill>
                <a:latin typeface="Arial"/>
                <a:ea typeface="微软雅黑"/>
              </a:defRPr>
            </a:pPr>
            <a:endParaRPr lang="en-US">
              <a:latin typeface="Arial"/>
              <a:ea typeface="微软雅黑"/>
            </a:endParaRPr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  <a:ea typeface="微软雅黑"/>
              </a:defRPr>
            </a:lvl1pPr>
          </a:lstStyle>
          <a:p>
            <a:endParaRPr lang="en-US">
              <a:latin typeface="Arial"/>
              <a:ea typeface="微软雅黑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  <a:ea typeface="微软雅黑"/>
              </a:defRPr>
            </a:lvl1pPr>
          </a:lstStyle>
          <a:p>
            <a:fld id="{5282F153-3F37-0F45-9E97-73ACFA13230C}" type="datetimeFigureOut">
              <a:rPr lang="en-US">
                <a:latin typeface="Arial"/>
                <a:ea typeface="微软雅黑"/>
              </a:rPr>
              <a:t>7/23/19</a:t>
            </a:fld>
            <a:endParaRPr lang="en-US">
              <a:latin typeface="Arial"/>
              <a:ea typeface="微软雅黑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Arial"/>
              <a:ea typeface="微软雅黑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Arial"/>
                <a:ea typeface="微软雅黑"/>
              </a:rPr>
              <a:t>Click to edit Master text styles</a:t>
            </a:r>
          </a:p>
          <a:p>
            <a:pPr lvl="1"/>
            <a:r>
              <a:rPr lang="en-US">
                <a:latin typeface="Arial"/>
                <a:ea typeface="微软雅黑"/>
              </a:rPr>
              <a:t>Second level</a:t>
            </a:r>
          </a:p>
          <a:p>
            <a:pPr lvl="2"/>
            <a:r>
              <a:rPr lang="en-US">
                <a:latin typeface="Arial"/>
                <a:ea typeface="微软雅黑"/>
              </a:rPr>
              <a:t>Third level</a:t>
            </a:r>
          </a:p>
          <a:p>
            <a:pPr lvl="3"/>
            <a:r>
              <a:rPr lang="en-US">
                <a:latin typeface="Arial"/>
                <a:ea typeface="微软雅黑"/>
              </a:rPr>
              <a:t>Fourth level</a:t>
            </a:r>
          </a:p>
          <a:p>
            <a:pPr lvl="4"/>
            <a:r>
              <a:rPr lang="en-US">
                <a:latin typeface="Arial"/>
                <a:ea typeface="微软雅黑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  <a:ea typeface="微软雅黑"/>
              </a:defRPr>
            </a:lvl1pPr>
          </a:lstStyle>
          <a:p>
            <a:endParaRPr lang="en-US">
              <a:latin typeface="Arial"/>
              <a:ea typeface="微软雅黑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  <a:ea typeface="微软雅黑"/>
              </a:defRPr>
            </a:lvl1pPr>
          </a:lstStyle>
          <a:p>
            <a:fld id="{CE5E9CC1-C706-0F49-92D6-E571CC5EEA8F}" type="slidenum">
              <a:rPr lang="en-US">
                <a:latin typeface="Arial"/>
                <a:ea typeface="微软雅黑"/>
              </a:rPr>
              <a:t>‹#›</a:t>
            </a:fld>
            <a:endParaRPr lang="en-US"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/>
        <a:ea typeface="微软雅黑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/>
        <a:ea typeface="微软雅黑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/>
        <a:ea typeface="微软雅黑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/>
        <a:ea typeface="微软雅黑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/>
        <a:ea typeface="微软雅黑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/>
        <a:ea typeface="微软雅黑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/>
        <a:ea typeface="微软雅黑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/>
        <a:ea typeface="微软雅黑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/>
        <a:ea typeface="微软雅黑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微软雅黑"/>
              </a:rPr>
              <a:t>Topic: 植物来源天然产物的抗流感候选价值与活性成分研究
Slide title: 研究背景｜证据链
Presentation subtitle: 植物来源天然产物的抗流感候选价值与活性成分研究
Presentation scope: 研究与计划为拟议设计，未声称已取得项目结果。
Slide notice: 前三栏为已发表文献证据；目标为植物X与NP的拟议课题
老年人流感死亡负担: ≥60岁死亡率较高
中国2010–15年估计
Statement type: evidence
Evidence audit:
{
  "status": "checked",
  "sourceIds": [
    "li2019"
  ],
  "claimIds": [
    "li2019-age-respiratory-mortality"
  ],
  "locator": "Table1: Average annual influenza-associated excess respiratory mortality rate, All influenza column, &lt;60 y and ≥60 y rows; Results age-specific paragraph (NCBI BioC offset15086); PubMed abstract Findings.",
  "reviewed": true,
  "reviewer": "Codex influenza_evidence: independent primary-source review",
  "reviewNote": "2026-10-13独立核对原文Table1的All influenza列，并与Results中年龄分层段落和PubMed Findings交叉核对：&lt;60岁点估计1.5、95%CI1.1–1.9；≥60岁点估计38.5、95%CI36.8–40.2。图中values是真实报告的平均每季超额呼吸死亡率模型点估计，不是由上下界推算的midpoint。人口为中国大陆，季节范围为2010–11至2014–15，流感A/B合计；不是A型单独死亡率，也不是当前年度统计。标题和caption仅比较原文的人群超额呼吸死亡率，不把死亡率、人数、全因死亡或天然产物临床疗效混为一谈。原文为观察性人群统计建模研究，非治疗试验。"
}
Native editable data:
{
  "type": "interval",
  "categories": [
    "&lt;60岁",
    "≥60岁"
  ],
  "series": [
    {
      "name": "超额呼吸死亡率",
      "values": [
        1.5,
        38.5
      ],
      "lower": [
        1.1,
        36.8
      ],
      "upper": [
        1.9,
        40.2
      ]
    }
  ],
  "unit": "例/10万人季",
  "intervalLabel": "95%CI",
  "axis": {
    "min": 0,
    "max": 45,
    "majorUnit": 20,
    "title": "超额呼吸死亡率（例/10万人季）",
    "format": "0.0"
  },
  "dataChecked": true,
  "sourceIds": [
    "li2019"
  ],
  "locator": "Table1, All influenza column, &lt;60 y and ≥60 y rows",
  "statistic": "Reported average seasonal model point estimates with95%confidence intervals; not inferred interval midpoints",
  "footnote": "中国2010–11至2014–15季；季节性A/B合计；点为模型估计，线为95%CI。非当前年度统计。"
}
现药临床获益: 症状缓解中位时间
53.7 vs 80.2小时
非复杂流感门诊试验
Statement type: evidence
Evidence audit:
{
  "status": "checked",
  "sourceIds": [
    "hayden2018"
  ],
  "claimIds": [
    "hayden-symptom-alleviation"
  ],
  "locator": "NEJM Results → Phase 3 Trial → Clinical and Virologic Efficacy; Figure 2 caption; Methods → Outcomes Measured; PubMed abstract Results.",
  "reviewed": true,
  "reviewer": "Codex influenza_evidence: independent primary-source review",
  "reviewNote": "2026-10-13独立核对PubMed Results及NEJM主论文索引全文Figure 2图注：两组为53.7（95%CI 49.5–58.5）及80.2（72.6–87.1）小时，Figure 2可评价数分别455及230。首作者、题名、2018年卷期页、DOI与PubMed/Crossref匹配。主张、柱数据及caption均限于症状缓解中位时间；未以中位数重建生存曲线，未将一般健康非复杂流感门诊患者外推至重症，亦不视为植物天然产物证据。"
}
Native editable data:
{
  "type": "bar",
  "categories": [
    "巴洛沙韦",
    "安慰剂"
  ],
  "series": [
    {
      "name": "症状缓解中位时间",
      "values": [
        53.7,
        80.2
      ]
    }
  ],
  "unit": "小时",
  "axis": {
    "title": "症状缓解中位时间（小时）",
    "min": 0,
    "max": 100,
    "majorUnit": 25,
    "format": "0.0"
  },
  "sourceIds": [
    "hayden2018"
  ],
  "locator": "Figure 2 caption; PubMed abstract Results",
  "dataChecked": true,
  "statistic": "median time to symptom alleviation",
  "footnote": "可评价n=455/230；门诊非复杂流感，不代表重症或天然产物疗效。",
  "confidenceIntervals": {
    "level": 95,
    "lower": [
      49.5,
      72.6
    ],
    "upper": [
      58.5,
      87.1
    ],
    "unit": "小时",
    "notPlotted": true
  },
  "nEvaluable": [
    455,
    230
  ],
  "nITTInfected": [
    456,
    231
  ]
}
植物来源候选依据: 黄芩苷的宿主反应
前临床，纵轴90%起
Statement type: evidence
Evidence audit:
{
  "status": "checked",
  "sourceIds": [
    "geng2020"
  ],
  "claimIds": [
    "geng-host-response-figure"
  ],
  "locator": "Figure 1D and Abstract Results",
  "reviewed": true,
  "reviewer": "Codex primary-source figure review",
  "reviewNote": "Independently checked Figure1D, its original legend and the Results. The selected panel shows M1 macrophage proportions, retaining original bars, error bars, significance markers, group labels and the90%axis baseline. It does not alone establish antiviral potency or clinical efficacy. BA denotes baicalin; this external published result is not plantX/NP project data. Original publisher figure panel is reused under CCBY4.0, with attribution; no data are redrawn or estimated from pixels."
}
Image identity and reuse:
{
  "type": "image",
  "path": "assets/geng2020-fig1d.png",
  "role": "source",
  "alt": "Geng2020 Figure1D: published macrophage phenotype result; original axis begins at90%",
  "sourceIds": [
    "geng2020"
  ],
  "locator": "Figure 1D",
  "license": "CC BY 4.0"
}
本课题研究目标: 粗提物与NP候选价值
成分、效应与作用解释
Statement type: proposed
Native editable proposed design:
{
  "type": "diagram",
  "role": "design",
  "direction": "vertical",
  "nodes": [
    {
      "id": "goal-0",
      "label": "粗提物候选价值"
    },
    {
      "id": "goal-1",
      "label": "活性成分与NP"
    },
    {
      "id": "goal-2",
      "label": "作用解释与转化边界"
    }
  ],
  "edges": [
    {
      "from": "goal-0",
      "to": "goal-1"
    },
    {
      "from": "goal-1",
      "to": "goal-2"
    }
  ]
}
References:
[1] Influenza-associated excess respiratory mortality in China, 2010–15: a population-based study. The Lancet Public Health 2019. DOI: 10.1016/S2468-2667(19)30163-X. https://pubmed.ncbi.nlm.nih.gov/31493844/
Source license: Article: CC BY-NC-ND4.0; numeric facts independently redrawn, no original figure or table image reused
[2] Baloxavir Marboxil for Uncomplicated Influenza in Adults and Adolescents. New England Journal of Medicine 2018. DOI: 10.1056/NEJMoa1716197. https://www.nejm.org/doi/full/10.1056/NEJMoa1716197
Source license: Copyright2018 Massachusetts Medical Society; numeric facts redrawn, no source figure reused
[3] Baicalin Inhibits Influenza A Virus Infection via Promotion of M1 Macrophage Polarization. Frontiers in Pharmacology 2020. DOI: 10.3389/fphar.2020.01298. https://doi.org/10.3389/fphar.2020.01298
Source license: unknown; no source figure reused
[4] Baicalein, Ethyl Acetate, and Chloroform Extracts of Scutellaria baicalensis Inhibit the Neuraminidase Activity of Pandemic 2009 H1N1 and Seasonal Influenza A Viruses. Evidence-Based Complementary and Alternative Medicine 2013. DOI: 10.1155/2013/750803. https://doi.org/10.1155/2013/750803
Source license: unknown; no source figure reused</a:t>
            </a:r>
            <a:endParaRPr lang="en-US" dirty="0">
              <a:latin typeface="Arial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/>
                <a:ea typeface="微软雅黑"/>
              </a:rPr>
              <a:t>1</a:t>
            </a:fld>
            <a:endParaRPr lang="en-US"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微软雅黑"/>
              </a:rPr>
              <a:t>Topic: 植物来源天然产物的抗流感候选价值与活性成分研究
Slide title: 科学问题｜研究假设（拟议）
Presentation subtitle: 植物来源天然产物的抗流感候选价值与活性成分研究
Presentation scope: 研究与计划为拟议设计，未声称已取得项目结果。
Slide notice: 拟议问题｜需结合项目条件确认
Main scientific question: 植物 X 中哪些天然产物具有抗流感候选价值，如何解释其作用？
研究对象: 植物 X 粗提物与候选 NP
Statement type: proposed
Image identity and reuse:
{
  "type": "image",
  "path": "assets/concept-0.png",
  "role": "design",
  "alt": "由粗提物整体效应延伸至候选成分，保留植物与化合物身份的待确认状态。",
  "provenance": {
    "kind": "ai-generated",
    "source": "OpenAI ImageGen: original high-level proposed-research concept,2026-10-13",
    "license": "LicenseRef-RSW-Noncommercial-Research-1.0",
    "priorDistributionLicense": "MIT",
    "licenseNote": "Provided author-owned material under the repository LICENSE for noncommercial research, teaching, and personal study. Prior valid licenses and third-party rights remain unaffected."
  }
}
核心比较: 并行解释效应与宿主安全性
Statement type: proposed
Image identity and reuse:
{
  "type": "image",
  "path": "assets/concept-1.png",
  "role": "design",
  "alt": "判断效应能否与宿主损伤区分，同时识别粗提物与候选成分的证据边界。",
  "provenance": {
    "kind": "ai-generated",
    "source": "OpenAI ImageGen: original high-level proposed-research concept,2026-10-13",
    "license": "LicenseRef-RSW-Noncommercial-Research-1.0",
    "priorDistributionLicense": "MIT",
    "licenseNote": "Provided author-owned material under the repository LICENSE for noncommercial research, teaching, and personal study. Prior valid licenses and third-party rights remain unaffected."
  }
}
解释目标: 连接成分、效应与作用路径
Statement type: proposed
Image identity and reuse:
{
  "type": "image",
  "path": "assets/concept-2.png",
  "role": "design",
  "alt": "解释哪些成分值得优先关注，以及直接作用或宿主反应各能解释哪些现象。",
  "provenance": {
    "kind": "ai-generated",
    "source": "OpenAI ImageGen: original high-level proposed-research concept,2026-10-13",
    "license": "LicenseRef-RSW-Noncommercial-Research-1.0",
    "priorDistributionLicense": "MIT",
    "licenseNote": "Provided author-owned material under the repository LICENSE for noncommercial research, teaching, and personal study. Prior valid licenses and third-party rights remain unaffected."
  }
}
References:
[1] Influenza-associated excess respiratory mortality in China, 2010–15: a population-based study. The Lancet Public Health 2019. DOI: 10.1016/S2468-2667(19)30163-X. https://pubmed.ncbi.nlm.nih.gov/31493844/
Source license: Article: CC BY-NC-ND4.0; numeric facts independently redrawn, no original figure or table image reused
[2] Baloxavir Marboxil for Uncomplicated Influenza in Adults and Adolescents. New England Journal of Medicine 2018. DOI: 10.1056/NEJMoa1716197. https://www.nejm.org/doi/full/10.1056/NEJMoa1716197
Source license: Copyright2018 Massachusetts Medical Society; numeric facts redrawn, no source figure reused
[3] Baicalin Inhibits Influenza A Virus Infection via Promotion of M1 Macrophage Polarization. Frontiers in Pharmacology 2020. DOI: 10.3389/fphar.2020.01298. https://doi.org/10.3389/fphar.2020.01298
Source license: unknown; no source figure reused
[4] Baicalein, Ethyl Acetate, and Chloroform Extracts of Scutellaria baicalensis Inhibit the Neuraminidase Activity of Pandemic 2009 H1N1 and Seasonal Influenza A Viruses. Evidence-Based Complementary and Alternative Medicine 2013. DOI: 10.1155/2013/750803. https://doi.org/10.1155/2013/750803
Source license: unknown; no source figure reused</a:t>
            </a:r>
            <a:endParaRPr lang="en-US" dirty="0">
              <a:latin typeface="Arial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/>
                <a:ea typeface="微软雅黑"/>
              </a:rPr>
              <a:t>2</a:t>
            </a:fld>
            <a:endParaRPr lang="en-US"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微软雅黑"/>
              </a:rPr>
              <a:t>Topic: 植物来源天然产物的抗流感候选价值与活性成分研究
Slide title: 前期材料｜已核查来源
Presentation subtitle: 植物来源天然产物的抗流感候选价值与活性成分研究
Presentation scope: 研究与计划为拟议设计，未声称已取得项目结果。
Slide notice: 外部文献实例：黄芩素不是已确认的植物X或NP；不作为本课题前期结果
效应必须结合毒性解释: 黄芩素选择性比值
2.5与2.3
文献结果，非NP数据
Statement type: evidence
Evidence audit:
{
  "status": "checked",
  "sourceIds": [
    "hour2013"
  ],
  "claimIds": [
    "hour-selectivity"
  ],
  "locator": "Table 4, baicalein row, therapeutic index columns",
  "reviewed": true,
  "reviewer": "Codex primary-source review",
  "reviewNote": "Checked Table4 baicalein row and the authors therapeutic-index definition. The reported dimensionless ratios are2.5 for seasonal2007 H1N1 and2.3 for pandemic2009 H1N1. These are different H1N1 backgrounds, not H1N1-versus-H3N2. No concentrations, operating conditions, growth parameters or per-patient results are reproduced. The ratio is a high-level preclinical selectivity measure, not a clinical therapeutic window and not userNP data."
}
Native editable data:
{
  "type": "bar",
  "categories": [
    "季节性H1N1（2007）",
    "大流行H1N1（2009）"
  ],
  "series": [
    {
      "name": "选择性比值",
      "values": [
        2.5,
        2.3
      ]
    }
  ],
  "unit": "无量纲比值",
  "sourceIds": [
    "hour2013"
  ],
  "locator": "Table 4, baicalein row",
  "dataChecked": true,
  "axis": {
    "min": 0,
    "max": 3,
    "majorUnit": 1,
    "title": "体外选择性比值",
    "format": "0.0"
  },
  "statistic": "Authors reported CC50/IC50 ratios, labelled therapeutic index",
  "footnote": "研究中两类H1N1的体外选择性比值；不是临床治疗窗。数据据原文重绘。"
}
References:
[1] Influenza-associated excess respiratory mortality in China, 2010–15: a population-based study. The Lancet Public Health 2019. DOI: 10.1016/S2468-2667(19)30163-X. https://pubmed.ncbi.nlm.nih.gov/31493844/
Source license: Article: CC BY-NC-ND4.0; numeric facts independently redrawn, no original figure or table image reused
[2] Baloxavir Marboxil for Uncomplicated Influenza in Adults and Adolescents. New England Journal of Medicine 2018. DOI: 10.1056/NEJMoa1716197. https://www.nejm.org/doi/full/10.1056/NEJMoa1716197
Source license: Copyright2018 Massachusetts Medical Society; numeric facts redrawn, no source figure reused
[3] Baicalin Inhibits Influenza A Virus Infection via Promotion of M1 Macrophage Polarization. Frontiers in Pharmacology 2020. DOI: 10.3389/fphar.2020.01298. https://doi.org/10.3389/fphar.2020.01298
Source license: unknown; no source figure reused
[4] Baicalein, Ethyl Acetate, and Chloroform Extracts of Scutellaria baicalensis Inhibit the Neuraminidase Activity of Pandemic 2009 H1N1 and Seasonal Influenza A Viruses. Evidence-Based Complementary and Alternative Medicine 2013. DOI: 10.1155/2013/750803. https://doi.org/10.1155/2013/750803
Source license: unknown; no source figure reused</a:t>
            </a:r>
            <a:endParaRPr lang="en-US" dirty="0">
              <a:latin typeface="Arial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/>
                <a:ea typeface="微软雅黑"/>
              </a:rPr>
              <a:t>3</a:t>
            </a:fld>
            <a:endParaRPr lang="en-US"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微软雅黑"/>
              </a:rPr>
              <a:t>Topic: 植物来源天然产物的抗流感候选价值与活性成分研究
Slide title: 研究内容一｜粗提物候选价值
Presentation subtitle: 植物来源天然产物的抗流感候选价值与活性成分研究
Presentation scope: 研究与计划为拟议设计，未声称已取得项目结果。
Slide notice: 拟议研究内容｜需项目方确认
粗提物抗流感候选价值: 评价粗提物 X 的效应与可复核性
Statement type: proposed
Image identity and reuse:
{
  "type": "image",
  "path": "assets/concept-1.png",
  "role": "design",
  "alt": "两条平行证据带：上方为粗提物 X 的抗流感效应证据，下方为宿主状态证据；两者共同指向候选价值判断。采用无数值的关系图，避免暗示已有阳性结果。",
  "provenance": {
    "kind": "ai-generated",
    "source": "OpenAI ImageGen high-level proposed-study concept",
    "license": "LicenseRef-RSW-Noncommercial-Research-1.0",
    "priorDistributionLicense": "MIT",
    "licenseNote": "Provided author-owned material under the repository LICENSE for noncommercial research, teaching, and personal study. Prior valid licenses and third-party rights remain unaffected."
  }
}
Proposed deliverable: 粗提物证据判断
效应与宿主安全性: 同时关注选择性，区分效应与宿主损伤
Statement type: proposed
Native editable proposed design:
{
  "type": "diagram",
  "role": "design",
  "direction": "vertical",
  "nodes": [
    {
      "id": "research-2-node-1",
      "label": "并列呈现效应与安全性"
    },
    {
      "id": "research-2-node-2",
      "label": "辨别有益信号与损伤信号"
    },
    {
      "id": "research-2-node-3",
      "label": "标明候选价值的适用范围"
    }
  ],
  "edges": [
    {
      "from": "research-2-node-1",
      "to": "research-2-node-2"
    },
    {
      "from": "research-2-node-2",
      "to": "research-2-node-3"
    }
  ]
}
Proposed deliverable: 效应—安全性边界
References:
[1] Influenza-associated excess respiratory mortality in China, 2010–15: a population-based study. The Lancet Public Health 2019. DOI: 10.1016/S2468-2667(19)30163-X. https://pubmed.ncbi.nlm.nih.gov/31493844/
Source license: Article: CC BY-NC-ND4.0; numeric facts independently redrawn, no original figure or table image reused
[2] Baloxavir Marboxil for Uncomplicated Influenza in Adults and Adolescents. New England Journal of Medicine 2018. DOI: 10.1056/NEJMoa1716197. https://www.nejm.org/doi/full/10.1056/NEJMoa1716197
Source license: Copyright2018 Massachusetts Medical Society; numeric facts redrawn, no source figure reused
[3] Baicalin Inhibits Influenza A Virus Infection via Promotion of M1 Macrophage Polarization. Frontiers in Pharmacology 2020. DOI: 10.3389/fphar.2020.01298. https://doi.org/10.3389/fphar.2020.01298
Source license: unknown; no source figure reused
[4] Baicalein, Ethyl Acetate, and Chloroform Extracts of Scutellaria baicalensis Inhibit the Neuraminidase Activity of Pandemic 2009 H1N1 and Seasonal Influenza A Viruses. Evidence-Based Complementary and Alternative Medicine 2013. DOI: 10.1155/2013/750803. https://doi.org/10.1155/2013/750803
Source license: unknown; no source figure reused</a:t>
            </a:r>
            <a:endParaRPr lang="en-US" dirty="0">
              <a:latin typeface="Arial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/>
                <a:ea typeface="微软雅黑"/>
              </a:rPr>
              <a:t>4</a:t>
            </a:fld>
            <a:endParaRPr lang="en-US"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微软雅黑"/>
              </a:rPr>
              <a:t>Topic: 植物来源天然产物的抗流感候选价值与活性成分研究
Slide title: 研究内容二｜活性成分与候选评价
Presentation subtitle: 植物来源天然产物的抗流感候选价值与活性成分研究
Presentation scope: 研究与计划为拟议设计，未声称已取得项目结果。
Slide notice: 拟议研究内容｜需项目方确认
活性成分与NP: 对应成分身份与效应，区分关联和因果
Statement type: proposed
Image identity and reuse:
{
  "type": "image",
  "path": "assets/concept-0.png",
  "role": "design",
  "alt": "左侧为粗提物 X 的成分资料，中间为候选成分 NP 及其他待确认成分，右侧为效应证据；关联线使用虚线，表示拟检验的关系而非已证因果。",
  "provenance": {
    "kind": "ai-generated",
    "source": "OpenAI ImageGen high-level proposed-study concept",
    "license": "LicenseRef-RSW-Noncommercial-Research-1.0",
    "priorDistributionLicense": "MIT",
    "licenseNote": "Provided author-owned material under the repository LICENSE for noncommercial research, teaching, and personal study. Prior valid licenses and third-party rights remain unaffected."
  }
}
Proposed deliverable: 成分—效应关联图
候选评价与优先级: 综合成分明确性、效应与安全性资料
Statement type: proposed
Native editable proposed design:
{
  "type": "diagram",
  "role": "design",
  "direction": "vertical",
  "nodes": [
    {
      "id": "research-4-node-1",
      "label": "比较成分身份的可信度"
    },
    {
      "id": "research-4-node-2",
      "label": "并列效应与安全性支持"
    },
    {
      "id": "research-4-node-3",
      "label": "形成优先级及保留理由"
    }
  ],
  "edges": [
    {
      "from": "research-4-node-1",
      "to": "research-4-node-2"
    },
    {
      "from": "research-4-node-2",
      "to": "research-4-node-3"
    }
  ]
}
Proposed deliverable: 候选优先级及理由
References:
[1] Influenza-associated excess respiratory mortality in China, 2010–15: a population-based study. The Lancet Public Health 2019. DOI: 10.1016/S2468-2667(19)30163-X. https://pubmed.ncbi.nlm.nih.gov/31493844/
Source license: Article: CC BY-NC-ND4.0; numeric facts independently redrawn, no original figure or table image reused
[2] Baloxavir Marboxil for Uncomplicated Influenza in Adults and Adolescents. New England Journal of Medicine 2018. DOI: 10.1056/NEJMoa1716197. https://www.nejm.org/doi/full/10.1056/NEJMoa1716197
Source license: Copyright2018 Massachusetts Medical Society; numeric facts redrawn, no source figure reused
[3] Baicalin Inhibits Influenza A Virus Infection via Promotion of M1 Macrophage Polarization. Frontiers in Pharmacology 2020. DOI: 10.3389/fphar.2020.01298. https://doi.org/10.3389/fphar.2020.01298
Source license: unknown; no source figure reused
[4] Baicalein, Ethyl Acetate, and Chloroform Extracts of Scutellaria baicalensis Inhibit the Neuraminidase Activity of Pandemic 2009 H1N1 and Seasonal Influenza A Viruses. Evidence-Based Complementary and Alternative Medicine 2013. DOI: 10.1155/2013/750803. https://doi.org/10.1155/2013/750803
Source license: unknown; no source figure reused</a:t>
            </a:r>
            <a:endParaRPr lang="en-US" dirty="0">
              <a:latin typeface="Arial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/>
                <a:ea typeface="微软雅黑"/>
              </a:rPr>
              <a:t>5</a:t>
            </a:fld>
            <a:endParaRPr lang="en-US"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微软雅黑"/>
              </a:rPr>
              <a:t>Topic: 植物来源天然产物的抗流感候选价值与活性成分研究
Slide title: 研究内容三｜作用解释与转化
Presentation subtitle: 植物来源天然产物的抗流感候选价值与活性成分研究
Presentation scope: 研究与计划为拟议设计，未声称已取得项目结果。
Slide notice: 拟议研究内容｜需项目方确认
直接作用与宿主反应: 比较两类假设，识别关键分歧与证据
Statement type: proposed
Image identity and reuse:
{
  "type": "image",
  "path": "assets/concept-2.png",
  "role": "design",
  "alt": "NP 居中，上分支连接直接作用假设，下分支连接宿主反应假设；两支各连接可解释现象与尚缺证据，末端汇合至综合机制解释。全部箭头标为待检验关系。",
  "provenance": {
    "kind": "ai-generated",
    "source": "OpenAI ImageGen high-level proposed-study concept",
    "license": "LicenseRef-RSW-Noncommercial-Research-1.0",
    "priorDistributionLicense": "MIT",
    "licenseNote": "Provided author-owned material under the repository LICENSE for noncommercial research, teaching, and personal study. Prior valid licenses and third-party rights remain unaffected."
  }
}
Proposed deliverable: 作用假设与关键分歧
开发与转化边界: 核对效应与机制一致性，明确待补证据
Statement type: proposed
Native editable proposed design:
{
  "type": "diagram",
  "role": "design",
  "direction": "vertical",
  "nodes": [
    {
      "id": "research-6-node-1",
      "label": "核对机制解释与效应一致性"
    },
    {
      "id": "research-6-node-2",
      "label": "识别选择性与成分稳定性疑问"
    },
    {
      "id": "research-6-node-3",
      "label": "界定后续开发与转化边界"
    }
  ],
  "edges": [
    {
      "from": "research-6-node-1",
      "to": "research-6-node-2"
    },
    {
      "from": "research-6-node-2",
      "to": "research-6-node-3"
    }
  ]
}
Proposed deliverable: 后续开发依据
References:
[1] Influenza-associated excess respiratory mortality in China, 2010–15: a population-based study. The Lancet Public Health 2019. DOI: 10.1016/S2468-2667(19)30163-X. https://pubmed.ncbi.nlm.nih.gov/31493844/
Source license: Article: CC BY-NC-ND4.0; numeric facts independently redrawn, no original figure or table image reused
[2] Baloxavir Marboxil for Uncomplicated Influenza in Adults and Adolescents. New England Journal of Medicine 2018. DOI: 10.1056/NEJMoa1716197. https://www.nejm.org/doi/full/10.1056/NEJMoa1716197
Source license: Copyright2018 Massachusetts Medical Society; numeric facts redrawn, no source figure reused
[3] Baicalin Inhibits Influenza A Virus Infection via Promotion of M1 Macrophage Polarization. Frontiers in Pharmacology 2020. DOI: 10.3389/fphar.2020.01298. https://doi.org/10.3389/fphar.2020.01298
Source license: unknown; no source figure reused
[4] Baicalein, Ethyl Acetate, and Chloroform Extracts of Scutellaria baicalensis Inhibit the Neuraminidase Activity of Pandemic 2009 H1N1 and Seasonal Influenza A Viruses. Evidence-Based Complementary and Alternative Medicine 2013. DOI: 10.1155/2013/750803. https://doi.org/10.1155/2013/750803
Source license: unknown; no source figure reused</a:t>
            </a:r>
            <a:endParaRPr lang="en-US" dirty="0">
              <a:latin typeface="Arial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/>
                <a:ea typeface="微软雅黑"/>
              </a:rPr>
              <a:t>6</a:t>
            </a:fld>
            <a:endParaRPr lang="en-US"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微软雅黑"/>
              </a:rPr>
              <a:t>Topic: 植物来源天然产物的抗流感候选价值与活性成分研究
Slide title: 后续计划｜效应、成分、机制与转化
Presentation subtitle: 植物来源天然产物的抗流感候选价值与活性成分研究
Presentation scope: 研究与计划为拟议设计，未声称已取得项目结果。
Slide notice: 拟议计划｜阶段与交付物待项目确认
效应与边界: 形成核心问题、比较关系与结果解释规则。
Statement type: proposed
Native editable proposed design:
{
  "type": "diagram",
  "role": "design",
  "direction": "vertical",
  "nodes": [
    {
      "id": "plan-1-node-1",
      "label": "明确研究对象"
    },
    {
      "id": "plan-1-node-2",
      "label": "确定核心比较"
    },
    {
      "id": "plan-1-node-3",
      "label": "形成解释规则"
    }
  ],
  "edges": [
    {
      "from": "plan-1-node-1",
      "to": "plan-1-node-2"
    },
    {
      "from": "plan-1-node-2",
      "to": "plan-1-node-3"
    }
  ]
}
Proposed deliverable: 效应—安全性框架
成分与候选: 区分成分确认、关联线索与待核查信息。
Statement type: proposed
Native editable proposed design:
{
  "type": "diagram",
  "role": "design",
  "direction": "vertical",
  "nodes": [
    {
      "id": "plan-2-node-1",
      "label": "核对植物与成分资料"
    },
    {
      "id": "plan-2-node-2",
      "label": "对应成分与效应线索"
    },
    {
      "id": "plan-2-node-3",
      "label": "形成候选清单"
    }
  ],
  "edges": [
    {
      "from": "plan-2-node-1",
      "to": "plan-2-node-2"
    },
    {
      "from": "plan-2-node-2",
      "to": "plan-2-node-3"
    }
  ]
}
Proposed deliverable: 成分证据与候选清单
机制与分歧: 形成可检验假设及不同结果的解释路径。
Statement type: proposed
Native editable proposed design:
{
  "type": "diagram",
  "role": "design",
  "direction": "vertical",
  "nodes": [
    {
      "id": "plan-3-node-1",
      "label": "列出作用解释"
    },
    {
      "id": "plan-3-node-2",
      "label": "识别关键分歧"
    },
    {
      "id": "plan-3-node-3",
      "label": "整理支持与反驳证据"
    }
  ],
  "edges": [
    {
      "from": "plan-3-node-1",
      "to": "plan-3-node-2"
    },
    {
      "from": "plan-3-node-2",
      "to": "plan-3-node-3"
    }
  ]
}
Proposed deliverable: 作用假设与分歧图
复核与转化: 明确可支持结论、剩余疑问与后续开发边界。
Statement type: proposed
Native editable proposed design:
{
  "type": "diagram",
  "role": "design",
  "direction": "vertical",
  "nodes": [
    {
      "id": "plan-4-node-1",
      "label": "复核关键证据"
    },
    {
      "id": "plan-4-node-2",
      "label": "界定可支持结论"
    },
    {
      "id": "plan-4-node-3",
      "label": "形成后续研究依据"
    }
  ],
  "edges": [
    {
      "from": "plan-4-node-1",
      "to": "plan-4-node-2"
    },
    {
      "from": "plan-4-node-2",
      "to": "plan-4-node-3"
    }
  ]
}
Proposed deliverable: 后续研究依据
References:
[1] Influenza-associated excess respiratory mortality in China, 2010–15: a population-based study. The Lancet Public Health 2019. DOI: 10.1016/S2468-2667(19)30163-X. https://pubmed.ncbi.nlm.nih.gov/31493844/
Source license: Article: CC BY-NC-ND4.0; numeric facts independently redrawn, no original figure or table image reused
[2] Baloxavir Marboxil for Uncomplicated Influenza in Adults and Adolescents. New England Journal of Medicine 2018. DOI: 10.1056/NEJMoa1716197. https://www.nejm.org/doi/full/10.1056/NEJMoa1716197
Source license: Copyright2018 Massachusetts Medical Society; numeric facts redrawn, no source figure reused
[3] Baicalin Inhibits Influenza A Virus Infection via Promotion of M1 Macrophage Polarization. Frontiers in Pharmacology 2020. DOI: 10.3389/fphar.2020.01298. https://doi.org/10.3389/fphar.2020.01298
Source license: unknown; no source figure reused
[4] Baicalein, Ethyl Acetate, and Chloroform Extracts of Scutellaria baicalensis Inhibit the Neuraminidase Activity of Pandemic 2009 H1N1 and Seasonal Influenza A Viruses. Evidence-Based Complementary and Alternative Medicine 2013. DOI: 10.1155/2013/750803. https://doi.org/10.1155/2013/750803
Source license: unknown; no source figure reused</a:t>
            </a:r>
            <a:endParaRPr lang="en-US" dirty="0">
              <a:latin typeface="Arial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/>
                <a:ea typeface="微软雅黑"/>
              </a:rPr>
              <a:t>7</a:t>
            </a:fld>
            <a:endParaRPr lang="en-US"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微软雅黑"/>
              </a:rPr>
              <a:t>Topic: 植物来源天然产物的抗流感候选价值与活性成分研究
Slide title: 参考文献｜来源与核查状态
Presentation subtitle: 植物来源天然产物的抗流感候选价值与活性成分研究
Presentation scope: 研究与计划为拟议设计，未声称已取得项目结果。
Slide notice: 题录核实与具体主张核实分别记录
References:
[1] Influenza-associated excess respiratory mortality in China, 2010–15: a population-based study. The Lancet Public Health 2019. DOI: 10.1016/S2468-2667(19)30163-X. https://pubmed.ncbi.nlm.nih.gov/31493844/
Source license: Article: CC BY-NC-ND4.0; numeric facts independently redrawn, no original figure or table image reused
[2] Baloxavir Marboxil for Uncomplicated Influenza in Adults and Adolescents. New England Journal of Medicine 2018. DOI: 10.1056/NEJMoa1716197. https://www.nejm.org/doi/full/10.1056/NEJMoa1716197
Source license: Copyright2018 Massachusetts Medical Society; numeric facts redrawn, no source figure reused
[3] Baicalin Inhibits Influenza A Virus Infection via Promotion of M1 Macrophage Polarization. Frontiers in Pharmacology 2020. DOI: 10.3389/fphar.2020.01298. https://doi.org/10.3389/fphar.2020.01298
Source license: unknown; no source figure reused
[4] Baicalein, Ethyl Acetate, and Chloroform Extracts of Scutellaria baicalensis Inhibit the Neuraminidase Activity of Pandemic 2009 H1N1 and Seasonal Influenza A Viruses. Evidence-Based Complementary and Alternative Medicine 2013. DOI: 10.1155/2013/750803. https://doi.org/10.1155/2013/750803
Source license: unknown; no source figure reused</a:t>
            </a:r>
            <a:endParaRPr lang="en-US" dirty="0">
              <a:latin typeface="Arial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/>
                <a:ea typeface="微软雅黑"/>
              </a:rPr>
              <a:t>8</a:t>
            </a:fld>
            <a:endParaRPr lang="en-US"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微软雅黑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微软雅黑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微软雅黑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微软雅黑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微软雅黑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微软雅黑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微软雅黑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微软雅黑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微软雅黑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微软雅黑"/>
          <a:cs typeface="+mn-cs"/>
        </a:defRPr>
      </a:lvl9pPr>
    </p:bodyStyle>
    <p:otherStyle>
      <a:defPPr>
        <a:defRPr lang="en-US">
          <a:latin typeface="Arial"/>
          <a:ea typeface="微软雅黑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微软雅黑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微软雅黑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微软雅黑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微软雅黑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微软雅黑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微软雅黑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微软雅黑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微软雅黑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微软雅黑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pubmed.ncbi.nlm.nih.gov/31493844/" TargetMode="External"/><Relationship Id="rId2" Type="http://schemas.openxmlformats.org/officeDocument/2006/relationships/hyperlink" Target="https://www.nejm.org/doi/full/10.1056/NEJMoa1716197" TargetMode="External"/><Relationship Id="rId3" Type="http://schemas.openxmlformats.org/officeDocument/2006/relationships/hyperlink" Target="https://doi.org/10.3389/fphar.2020.01298" TargetMode="External"/><Relationship Id="rId4" Type="http://schemas.openxmlformats.org/officeDocument/2006/relationships/hyperlink" Target="https://doi.org/10.1155/2013/750803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研究背景</a:t>
            </a:r>
            <a:endParaRPr lang="en-US" sz="3200" dirty="0">
              <a:latin typeface="Arial"/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66576" y="651052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1</a:t>
            </a:r>
            <a:endParaRPr lang="en-US" sz="1000" dirty="0">
              <a:latin typeface="Arial"/>
              <a:ea typeface="微软雅黑"/>
            </a:endParaRPr>
          </a:p>
        </p:txBody>
      </p:sp>
      <p:sp>
        <p:nvSpPr>
          <p:cNvPr id="4" name="topic-frame-background-1"/>
          <p:cNvSpPr/>
          <p:nvPr/>
        </p:nvSpPr>
        <p:spPr>
          <a:xfrm>
            <a:off x="548640" y="1124712"/>
            <a:ext cx="2608326" cy="5212080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280160"/>
            <a:ext cx="23522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问题</a:t>
            </a:r>
            <a:endParaRPr lang="en-US" sz="2200" dirty="0">
              <a:latin typeface="Arial"/>
              <a:ea typeface="微软雅黑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6656" y="1755648"/>
            <a:ext cx="23522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老年人流感死亡负担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404872"/>
            <a:ext cx="2279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超额呼吸死亡率（例/10万人季）</a:t>
            </a:r>
            <a:endParaRPr lang="en-US" sz="1300" dirty="0">
              <a:latin typeface="Arial"/>
              <a:ea typeface="微软雅黑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2688336"/>
            <a:ext cx="227914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95%CI (例/10万人季)</a:t>
            </a:r>
            <a:endParaRPr lang="en-US" sz="1100" dirty="0">
              <a:latin typeface="Arial"/>
              <a:ea typeface="微软雅黑"/>
            </a:endParaRPr>
          </a:p>
        </p:txBody>
      </p:sp>
      <p:sp>
        <p:nvSpPr>
          <p:cNvPr id="9" name="interval-series-0-category-0-category"/>
          <p:cNvSpPr/>
          <p:nvPr/>
        </p:nvSpPr>
        <p:spPr>
          <a:xfrm>
            <a:off x="713232" y="2907792"/>
            <a:ext cx="6273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&lt;60岁</a:t>
            </a:r>
            <a:endParaRPr lang="en-US" sz="1200" dirty="0">
              <a:latin typeface="Arial"/>
              <a:ea typeface="微软雅黑"/>
            </a:endParaRPr>
          </a:p>
        </p:txBody>
      </p:sp>
      <p:sp>
        <p:nvSpPr>
          <p:cNvPr id="10" name="interval-series-0-category-0-segment"/>
          <p:cNvSpPr/>
          <p:nvPr/>
        </p:nvSpPr>
        <p:spPr>
          <a:xfrm>
            <a:off x="1486169" y="3017520"/>
            <a:ext cx="26115" cy="0"/>
          </a:xfrm>
          <a:prstGeom prst="line">
            <a:avLst/>
          </a:prstGeom>
          <a:noFill/>
          <a:ln w="25400">
            <a:solidFill>
              <a:srgbClr val="075238"/>
            </a:solidFill>
            <a:prstDash val="solid"/>
          </a:ln>
        </p:spPr>
      </p:sp>
      <p:sp>
        <p:nvSpPr>
          <p:cNvPr id="11" name="interval-series-0-category-0-lower"/>
          <p:cNvSpPr/>
          <p:nvPr/>
        </p:nvSpPr>
        <p:spPr>
          <a:xfrm>
            <a:off x="1486169" y="2958084"/>
            <a:ext cx="0" cy="11887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</a:ln>
        </p:spPr>
      </p:sp>
      <p:sp>
        <p:nvSpPr>
          <p:cNvPr id="12" name="interval-series-0-category-0-upper"/>
          <p:cNvSpPr/>
          <p:nvPr/>
        </p:nvSpPr>
        <p:spPr>
          <a:xfrm>
            <a:off x="1512284" y="2958084"/>
            <a:ext cx="0" cy="11887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</a:ln>
        </p:spPr>
      </p:sp>
      <p:sp>
        <p:nvSpPr>
          <p:cNvPr id="13" name="interval-series-0-category-0-reported-point"/>
          <p:cNvSpPr/>
          <p:nvPr/>
        </p:nvSpPr>
        <p:spPr>
          <a:xfrm>
            <a:off x="1467223" y="2985516"/>
            <a:ext cx="64008" cy="64008"/>
          </a:xfrm>
          <a:prstGeom prst="ellipse">
            <a:avLst/>
          </a:prstGeom>
          <a:solidFill>
            <a:srgbClr val="075238"/>
          </a:solidFill>
          <a:ln w="6350">
            <a:solidFill>
              <a:srgbClr val="075238"/>
            </a:solidFill>
            <a:prstDash val="solid"/>
          </a:ln>
        </p:spPr>
      </p:sp>
      <p:sp>
        <p:nvSpPr>
          <p:cNvPr id="14" name="interval-series-0-category-0-range"/>
          <p:cNvSpPr/>
          <p:nvPr/>
        </p:nvSpPr>
        <p:spPr>
          <a:xfrm>
            <a:off x="1450261" y="3108960"/>
            <a:ext cx="146896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1.5 (1.1–1.9)</a:t>
            </a:r>
            <a:endParaRPr lang="en-US" sz="1100" dirty="0">
              <a:latin typeface="Arial"/>
              <a:ea typeface="微软雅黑"/>
            </a:endParaRPr>
          </a:p>
        </p:txBody>
      </p:sp>
      <p:sp>
        <p:nvSpPr>
          <p:cNvPr id="15" name="interval-series-0-category-1-category"/>
          <p:cNvSpPr/>
          <p:nvPr/>
        </p:nvSpPr>
        <p:spPr>
          <a:xfrm>
            <a:off x="713232" y="3666744"/>
            <a:ext cx="6273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≥60岁</a:t>
            </a:r>
            <a:endParaRPr lang="en-US" sz="1200" dirty="0">
              <a:latin typeface="Arial"/>
              <a:ea typeface="微软雅黑"/>
            </a:endParaRPr>
          </a:p>
        </p:txBody>
      </p:sp>
      <p:sp>
        <p:nvSpPr>
          <p:cNvPr id="16" name="interval-series-0-category-1-segment"/>
          <p:cNvSpPr/>
          <p:nvPr/>
        </p:nvSpPr>
        <p:spPr>
          <a:xfrm>
            <a:off x="2651545" y="3776472"/>
            <a:ext cx="110988" cy="0"/>
          </a:xfrm>
          <a:prstGeom prst="line">
            <a:avLst/>
          </a:prstGeom>
          <a:noFill/>
          <a:ln w="25400">
            <a:solidFill>
              <a:srgbClr val="075238"/>
            </a:solidFill>
            <a:prstDash val="solid"/>
          </a:ln>
        </p:spPr>
      </p:sp>
      <p:sp>
        <p:nvSpPr>
          <p:cNvPr id="17" name="interval-series-0-category-1-lower"/>
          <p:cNvSpPr/>
          <p:nvPr/>
        </p:nvSpPr>
        <p:spPr>
          <a:xfrm>
            <a:off x="2651545" y="3717036"/>
            <a:ext cx="0" cy="11887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</a:ln>
        </p:spPr>
      </p:sp>
      <p:sp>
        <p:nvSpPr>
          <p:cNvPr id="18" name="interval-series-0-category-1-upper"/>
          <p:cNvSpPr/>
          <p:nvPr/>
        </p:nvSpPr>
        <p:spPr>
          <a:xfrm>
            <a:off x="2762533" y="3717036"/>
            <a:ext cx="0" cy="11887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</a:ln>
        </p:spPr>
      </p:sp>
      <p:sp>
        <p:nvSpPr>
          <p:cNvPr id="19" name="interval-series-0-category-1-reported-point"/>
          <p:cNvSpPr/>
          <p:nvPr/>
        </p:nvSpPr>
        <p:spPr>
          <a:xfrm>
            <a:off x="2675035" y="3744468"/>
            <a:ext cx="64008" cy="64008"/>
          </a:xfrm>
          <a:prstGeom prst="ellipse">
            <a:avLst/>
          </a:prstGeom>
          <a:solidFill>
            <a:srgbClr val="075238"/>
          </a:solidFill>
          <a:ln w="6350">
            <a:solidFill>
              <a:srgbClr val="075238"/>
            </a:solidFill>
            <a:prstDash val="solid"/>
          </a:ln>
        </p:spPr>
      </p:sp>
      <p:sp>
        <p:nvSpPr>
          <p:cNvPr id="20" name="interval-series-0-category-1-range"/>
          <p:cNvSpPr/>
          <p:nvPr/>
        </p:nvSpPr>
        <p:spPr>
          <a:xfrm>
            <a:off x="1450261" y="3867912"/>
            <a:ext cx="146896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38.5 (36.8–40.2)</a:t>
            </a:r>
            <a:endParaRPr lang="en-US" sz="1100" dirty="0">
              <a:latin typeface="Arial"/>
              <a:ea typeface="微软雅黑"/>
            </a:endParaRPr>
          </a:p>
        </p:txBody>
      </p:sp>
      <p:sp>
        <p:nvSpPr>
          <p:cNvPr id="21" name="interval-axis"/>
          <p:cNvSpPr/>
          <p:nvPr/>
        </p:nvSpPr>
        <p:spPr>
          <a:xfrm>
            <a:off x="1450261" y="4425696"/>
            <a:ext cx="1468961" cy="0"/>
          </a:xfrm>
          <a:prstGeom prst="line">
            <a:avLst/>
          </a:prstGeom>
          <a:noFill/>
          <a:ln w="8890">
            <a:solidFill>
              <a:srgbClr val="65776E"/>
            </a:solidFill>
            <a:prstDash val="solid"/>
          </a:ln>
        </p:spPr>
      </p:sp>
      <p:sp>
        <p:nvSpPr>
          <p:cNvPr id="22" name="interval-axis-tick-0"/>
          <p:cNvSpPr/>
          <p:nvPr/>
        </p:nvSpPr>
        <p:spPr>
          <a:xfrm>
            <a:off x="1450261" y="4425696"/>
            <a:ext cx="0" cy="50292"/>
          </a:xfrm>
          <a:prstGeom prst="line">
            <a:avLst/>
          </a:prstGeom>
          <a:noFill/>
          <a:ln w="8890">
            <a:solidFill>
              <a:srgbClr val="6577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3957" y="449427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0</a:t>
            </a:r>
            <a:endParaRPr lang="en-US" sz="1000" dirty="0">
              <a:latin typeface="Arial"/>
              <a:ea typeface="微软雅黑"/>
            </a:endParaRPr>
          </a:p>
        </p:txBody>
      </p:sp>
      <p:sp>
        <p:nvSpPr>
          <p:cNvPr id="24" name="interval-axis-tick-1"/>
          <p:cNvSpPr/>
          <p:nvPr/>
        </p:nvSpPr>
        <p:spPr>
          <a:xfrm>
            <a:off x="2103133" y="4425696"/>
            <a:ext cx="0" cy="50292"/>
          </a:xfrm>
          <a:prstGeom prst="line">
            <a:avLst/>
          </a:prstGeom>
          <a:noFill/>
          <a:ln w="8890">
            <a:solidFill>
              <a:srgbClr val="6577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56829" y="449427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20</a:t>
            </a:r>
            <a:endParaRPr lang="en-US" sz="1000" dirty="0">
              <a:latin typeface="Arial"/>
              <a:ea typeface="微软雅黑"/>
            </a:endParaRPr>
          </a:p>
        </p:txBody>
      </p:sp>
      <p:sp>
        <p:nvSpPr>
          <p:cNvPr id="26" name="interval-axis-tick-2"/>
          <p:cNvSpPr/>
          <p:nvPr/>
        </p:nvSpPr>
        <p:spPr>
          <a:xfrm>
            <a:off x="2756004" y="4425696"/>
            <a:ext cx="0" cy="50292"/>
          </a:xfrm>
          <a:prstGeom prst="line">
            <a:avLst/>
          </a:prstGeom>
          <a:noFill/>
          <a:ln w="8890">
            <a:solidFill>
              <a:srgbClr val="6577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9700" y="449427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40</a:t>
            </a:r>
            <a:endParaRPr lang="en-US" sz="1000" dirty="0">
              <a:latin typeface="Arial"/>
              <a:ea typeface="微软雅黑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6656" y="4937760"/>
            <a:ext cx="235229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≥60岁死亡率较高</a:t>
            </a:r>
            <a:endParaRPr lang="en-US" sz="1800" dirty="0">
              <a:latin typeface="Arial"/>
              <a:ea typeface="微软雅黑"/>
            </a:endParaRPr>
          </a:p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中国2010–15年估计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175254" y="1463040"/>
            <a:ext cx="182880" cy="0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30" name="topic-frame-background-2"/>
          <p:cNvSpPr/>
          <p:nvPr/>
        </p:nvSpPr>
        <p:spPr>
          <a:xfrm>
            <a:off x="3376422" y="1124712"/>
            <a:ext cx="2608326" cy="5212080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4438" y="1280160"/>
            <a:ext cx="23522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现状</a:t>
            </a:r>
            <a:endParaRPr lang="en-US" sz="2200" dirty="0">
              <a:latin typeface="Arial"/>
              <a:ea typeface="微软雅黑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504438" y="1755648"/>
            <a:ext cx="23522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现药临床获益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541014" y="2450592"/>
            <a:ext cx="227914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症状缓解中位时间（小时）</a:t>
            </a:r>
            <a:endParaRPr lang="en-US" sz="1300" dirty="0">
              <a:latin typeface="Arial"/>
              <a:ea typeface="微软雅黑"/>
            </a:endParaRPr>
          </a:p>
        </p:txBody>
      </p:sp>
      <p:graphicFrame>
        <p:nvGraphicFramePr>
          <p:cNvPr id="34" name="Chart 0" descr=""/>
          <p:cNvGraphicFramePr/>
          <p:nvPr/>
        </p:nvGraphicFramePr>
        <p:xfrm>
          <a:off x="3522726" y="2761488"/>
          <a:ext cx="2315718" cy="1947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Text 32"/>
          <p:cNvSpPr/>
          <p:nvPr/>
        </p:nvSpPr>
        <p:spPr>
          <a:xfrm>
            <a:off x="3504438" y="4937760"/>
            <a:ext cx="235229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症状缓解中位时间</a:t>
            </a:r>
            <a:endParaRPr lang="en-US" sz="1800" dirty="0">
              <a:latin typeface="Arial"/>
              <a:ea typeface="微软雅黑"/>
            </a:endParaRPr>
          </a:p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53.7 vs 80.2小时</a:t>
            </a:r>
            <a:endParaRPr lang="en-US" sz="1800" dirty="0">
              <a:latin typeface="Arial"/>
              <a:ea typeface="微软雅黑"/>
            </a:endParaRPr>
          </a:p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非复杂流感门诊试验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003036" y="1463040"/>
            <a:ext cx="182880" cy="0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37" name="topic-frame-background-3"/>
          <p:cNvSpPr/>
          <p:nvPr/>
        </p:nvSpPr>
        <p:spPr>
          <a:xfrm>
            <a:off x="6204204" y="1124712"/>
            <a:ext cx="2608326" cy="5212080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2220" y="1280160"/>
            <a:ext cx="23522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对策</a:t>
            </a:r>
            <a:endParaRPr lang="en-US" sz="2200" dirty="0">
              <a:latin typeface="Arial"/>
              <a:ea typeface="微软雅黑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332220" y="1755648"/>
            <a:ext cx="23522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植物来源候选依据</a:t>
            </a:r>
            <a:endParaRPr lang="en-US" sz="1800" dirty="0">
              <a:latin typeface="Arial"/>
              <a:ea typeface="微软雅黑"/>
            </a:endParaRPr>
          </a:p>
        </p:txBody>
      </p:sp>
      <p:pic>
        <p:nvPicPr>
          <p:cNvPr id="40" name="Image 0" descr="Geng2020 Figure1D: published macrophage phenotype result; original axis begins at90%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2833874"/>
            <a:ext cx="2352294" cy="1382276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6332220" y="4937760"/>
            <a:ext cx="235229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黄芩苷的宿主反应</a:t>
            </a:r>
            <a:endParaRPr lang="en-US" sz="1800" dirty="0">
              <a:latin typeface="Arial"/>
              <a:ea typeface="微软雅黑"/>
            </a:endParaRPr>
          </a:p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前临床，纵轴90%起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8830818" y="1463040"/>
            <a:ext cx="182880" cy="0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43" name="topic-frame-background-goal"/>
          <p:cNvSpPr/>
          <p:nvPr/>
        </p:nvSpPr>
        <p:spPr>
          <a:xfrm>
            <a:off x="9031986" y="1124712"/>
            <a:ext cx="2608326" cy="5212080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160002" y="1280160"/>
            <a:ext cx="23522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目标</a:t>
            </a:r>
            <a:endParaRPr lang="en-US" sz="2200" dirty="0">
              <a:latin typeface="Arial"/>
              <a:ea typeface="微软雅黑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9160002" y="1755648"/>
            <a:ext cx="23522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本课题研究目标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10336149" y="3026664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10336149" y="3813048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9297162" y="2450592"/>
            <a:ext cx="2077974" cy="576072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347454" y="2487168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粗提物候选价值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9297162" y="3236976"/>
            <a:ext cx="2077974" cy="576072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9347454" y="3273552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活性成分与NP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52" name="Shape 48"/>
          <p:cNvSpPr/>
          <p:nvPr/>
        </p:nvSpPr>
        <p:spPr>
          <a:xfrm>
            <a:off x="9297162" y="4023360"/>
            <a:ext cx="2077974" cy="576072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9347454" y="4059936"/>
            <a:ext cx="1977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作用解释与转化边界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9160002" y="4937760"/>
            <a:ext cx="235229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粗提物与NP候选价值</a:t>
            </a:r>
            <a:endParaRPr lang="en-US" sz="1800" dirty="0">
              <a:latin typeface="Arial"/>
              <a:ea typeface="微软雅黑"/>
            </a:endParaRPr>
          </a:p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成分、效应与作用解释</a:t>
            </a:r>
            <a:endParaRPr lang="en-US" sz="1800" dirty="0">
              <a:latin typeface="Arial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科学问题</a:t>
            </a:r>
            <a:endParaRPr lang="en-US" sz="3200" dirty="0">
              <a:latin typeface="Arial"/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66576" y="651052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2</a:t>
            </a:r>
            <a:endParaRPr lang="en-US" sz="1000" dirty="0">
              <a:latin typeface="Arial"/>
              <a:ea typeface="微软雅黑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11338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植物 X 中哪些天然产物具有抗流感候选价值，如何解释其作用？</a:t>
            </a:r>
            <a:endParaRPr lang="en-US" sz="2600" dirty="0">
              <a:latin typeface="Arial"/>
              <a:ea typeface="微软雅黑"/>
            </a:endParaRPr>
          </a:p>
        </p:txBody>
      </p:sp>
      <p:sp>
        <p:nvSpPr>
          <p:cNvPr id="5" name="topic-frame-question-1"/>
          <p:cNvSpPr/>
          <p:nvPr/>
        </p:nvSpPr>
        <p:spPr>
          <a:xfrm>
            <a:off x="548640" y="2039112"/>
            <a:ext cx="3416808" cy="4297680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212848"/>
            <a:ext cx="312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研究对象</a:t>
            </a:r>
            <a:endParaRPr lang="en-US" sz="2200" dirty="0">
              <a:latin typeface="Arial"/>
              <a:ea typeface="微软雅黑"/>
            </a:endParaRPr>
          </a:p>
        </p:txBody>
      </p:sp>
      <p:pic>
        <p:nvPicPr>
          <p:cNvPr id="7" name="Image 0" descr="由粗提物整体效应延伸至候选成分，保留植物与化合物身份的待确认状态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968244"/>
            <a:ext cx="3124200" cy="2082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5404104"/>
            <a:ext cx="312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植物 X 粗提物与候选 NP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029456" y="3840480"/>
            <a:ext cx="292608" cy="0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10" name="topic-frame-question-2"/>
          <p:cNvSpPr/>
          <p:nvPr/>
        </p:nvSpPr>
        <p:spPr>
          <a:xfrm>
            <a:off x="4386072" y="2039112"/>
            <a:ext cx="3416808" cy="4297680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2376" y="2212848"/>
            <a:ext cx="312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核心比较</a:t>
            </a:r>
            <a:endParaRPr lang="en-US" sz="2200" dirty="0">
              <a:latin typeface="Arial"/>
              <a:ea typeface="微软雅黑"/>
            </a:endParaRPr>
          </a:p>
        </p:txBody>
      </p:sp>
      <p:pic>
        <p:nvPicPr>
          <p:cNvPr id="12" name="Image 1" descr="判断效应能否与宿主损伤区分，同时识别粗提物与候选成分的证据边界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376" y="2968244"/>
            <a:ext cx="3124200" cy="2082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2376" y="5404104"/>
            <a:ext cx="312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并行解释效应与宿主安全性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866888" y="3840480"/>
            <a:ext cx="292608" cy="0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15" name="topic-frame-question-3"/>
          <p:cNvSpPr/>
          <p:nvPr/>
        </p:nvSpPr>
        <p:spPr>
          <a:xfrm>
            <a:off x="8223504" y="2039112"/>
            <a:ext cx="3416808" cy="4297680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369808" y="2212848"/>
            <a:ext cx="3124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解释目标</a:t>
            </a:r>
            <a:endParaRPr lang="en-US" sz="2200" dirty="0">
              <a:latin typeface="Arial"/>
              <a:ea typeface="微软雅黑"/>
            </a:endParaRPr>
          </a:p>
        </p:txBody>
      </p:sp>
      <p:pic>
        <p:nvPicPr>
          <p:cNvPr id="17" name="Image 2" descr="解释哪些成分值得优先关注，以及直接作用或宿主反应各能解释哪些现象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808" y="2968244"/>
            <a:ext cx="3124200" cy="2082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9808" y="5404104"/>
            <a:ext cx="3124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连接成分、效应与作用路径</a:t>
            </a:r>
            <a:endParaRPr lang="en-US" sz="1800" dirty="0">
              <a:latin typeface="Arial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已发表研究依据：效应与毒性须同时考虑</a:t>
            </a:r>
            <a:endParaRPr lang="en-US" sz="3200" dirty="0">
              <a:latin typeface="Arial"/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66576" y="651052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3</a:t>
            </a:r>
            <a:endParaRPr lang="en-US" sz="1000" dirty="0">
              <a:latin typeface="Arial"/>
              <a:ea typeface="微软雅黑"/>
            </a:endParaRPr>
          </a:p>
        </p:txBody>
      </p:sp>
      <p:sp>
        <p:nvSpPr>
          <p:cNvPr id="4" name="topic-frame-preliminary-1"/>
          <p:cNvSpPr/>
          <p:nvPr/>
        </p:nvSpPr>
        <p:spPr>
          <a:xfrm>
            <a:off x="548640" y="1152144"/>
            <a:ext cx="11091672" cy="5157216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07592"/>
            <a:ext cx="107624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效应必须结合毒性解释</a:t>
            </a:r>
            <a:endParaRPr lang="en-US" sz="2400" dirty="0">
              <a:latin typeface="Arial"/>
              <a:ea typeface="微软雅黑"/>
            </a:endParaRPr>
          </a:p>
        </p:txBody>
      </p:sp>
      <p:sp>
        <p:nvSpPr>
          <p:cNvPr id="6" name="Text 4"/>
          <p:cNvSpPr/>
          <p:nvPr/>
        </p:nvSpPr>
        <p:spPr>
          <a:xfrm>
            <a:off x="786384" y="2176272"/>
            <a:ext cx="6409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体外选择性比值</a:t>
            </a:r>
            <a:endParaRPr lang="en-US" sz="1300" dirty="0">
              <a:latin typeface="Arial"/>
              <a:ea typeface="微软雅黑"/>
            </a:endParaRPr>
          </a:p>
        </p:txBody>
      </p:sp>
      <p:graphicFrame>
        <p:nvGraphicFramePr>
          <p:cNvPr id="7" name="Chart 0" descr=""/>
          <p:cNvGraphicFramePr/>
          <p:nvPr/>
        </p:nvGraphicFramePr>
        <p:xfrm>
          <a:off x="768096" y="2487168"/>
          <a:ext cx="6446520" cy="35753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708392" y="2286000"/>
            <a:ext cx="373989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黄芩素选择性比值</a:t>
            </a:r>
            <a:endParaRPr lang="en-US" sz="2000" dirty="0">
              <a:latin typeface="Arial"/>
              <a:ea typeface="微软雅黑"/>
            </a:endParaRPr>
          </a:p>
          <a:p>
            <a:pPr indent="0" marL="0">
              <a:buNone/>
            </a:pPr>
            <a:r>
              <a:rPr lang="en-US" sz="2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2.5与2.3</a:t>
            </a:r>
            <a:endParaRPr lang="en-US" sz="2000" dirty="0">
              <a:latin typeface="Arial"/>
              <a:ea typeface="微软雅黑"/>
            </a:endParaRPr>
          </a:p>
          <a:p>
            <a:pPr indent="0" marL="0">
              <a:buNone/>
            </a:pPr>
            <a:r>
              <a:rPr lang="en-US" sz="2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文献结果，非NP数据</a:t>
            </a:r>
            <a:endParaRPr lang="en-US" sz="2000" dirty="0">
              <a:latin typeface="Arial"/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研究内容一｜粗提物候选价值（拟开展）</a:t>
            </a:r>
            <a:endParaRPr lang="en-US" sz="3200" dirty="0">
              <a:latin typeface="Arial"/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66576" y="651052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4</a:t>
            </a:r>
            <a:endParaRPr lang="en-US" sz="1000" dirty="0">
              <a:latin typeface="Arial"/>
              <a:ea typeface="微软雅黑"/>
            </a:endParaRPr>
          </a:p>
        </p:txBody>
      </p:sp>
      <p:sp>
        <p:nvSpPr>
          <p:cNvPr id="4" name="topic-frame-research-1"/>
          <p:cNvSpPr/>
          <p:nvPr/>
        </p:nvSpPr>
        <p:spPr>
          <a:xfrm>
            <a:off x="548640" y="1152144"/>
            <a:ext cx="5216652" cy="5157216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07592"/>
            <a:ext cx="49240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粗提物抗流感候选价值</a:t>
            </a:r>
            <a:endParaRPr lang="en-US" sz="2400" dirty="0">
              <a:latin typeface="Arial"/>
              <a:ea typeface="微软雅黑"/>
            </a:endParaRPr>
          </a:p>
        </p:txBody>
      </p:sp>
      <p:pic>
        <p:nvPicPr>
          <p:cNvPr id="6" name="Image 0" descr="两条平行证据带：上方为粗提物 X 的抗流感效应证据，下方为宿主状态证据；两者共同指向候选价值判断。采用无数值的关系图，避免暗示已有阳性结果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2039112"/>
            <a:ext cx="4608576" cy="30723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5239512"/>
            <a:ext cx="49240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评价粗提物 X 的效应与可复核性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8" name="topic-frame-research-2"/>
          <p:cNvSpPr/>
          <p:nvPr/>
        </p:nvSpPr>
        <p:spPr>
          <a:xfrm>
            <a:off x="6423660" y="1152144"/>
            <a:ext cx="5216652" cy="5157216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69964" y="1307592"/>
            <a:ext cx="49240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效应与宿主安全性</a:t>
            </a:r>
            <a:endParaRPr lang="en-US" sz="2400" dirty="0">
              <a:latin typeface="Arial"/>
              <a:ea typeface="微软雅黑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031986" y="2976372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031986" y="3963924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500366" y="2199132"/>
            <a:ext cx="3063240" cy="77724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50658" y="2235708"/>
            <a:ext cx="2962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并列呈现效应与安全性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00366" y="3186684"/>
            <a:ext cx="3063240" cy="77724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50658" y="3223260"/>
            <a:ext cx="2962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辨别有益信号与损伤信号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500366" y="4174236"/>
            <a:ext cx="3063240" cy="77724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50658" y="4210812"/>
            <a:ext cx="2962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标明候选价值的适用范围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69964" y="5239512"/>
            <a:ext cx="49240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同时关注选择性，区分效应与宿主损伤</a:t>
            </a:r>
            <a:endParaRPr lang="en-US" sz="1800" dirty="0">
              <a:latin typeface="Arial"/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研究内容二｜活性成分与候选评价（拟开展）</a:t>
            </a:r>
            <a:endParaRPr lang="en-US" sz="3200" dirty="0">
              <a:latin typeface="Arial"/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66576" y="651052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5</a:t>
            </a:r>
            <a:endParaRPr lang="en-US" sz="1000" dirty="0">
              <a:latin typeface="Arial"/>
              <a:ea typeface="微软雅黑"/>
            </a:endParaRPr>
          </a:p>
        </p:txBody>
      </p:sp>
      <p:sp>
        <p:nvSpPr>
          <p:cNvPr id="4" name="topic-frame-research-3"/>
          <p:cNvSpPr/>
          <p:nvPr/>
        </p:nvSpPr>
        <p:spPr>
          <a:xfrm>
            <a:off x="548640" y="1152144"/>
            <a:ext cx="5216652" cy="5157216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07592"/>
            <a:ext cx="49240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活性成分与NP</a:t>
            </a:r>
            <a:endParaRPr lang="en-US" sz="2400" dirty="0">
              <a:latin typeface="Arial"/>
              <a:ea typeface="微软雅黑"/>
            </a:endParaRPr>
          </a:p>
        </p:txBody>
      </p:sp>
      <p:pic>
        <p:nvPicPr>
          <p:cNvPr id="6" name="Image 0" descr="左侧为粗提物 X 的成分资料，中间为候选成分 NP 及其他待确认成分，右侧为效应证据；关联线使用虚线，表示拟检验的关系而非已证因果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2039112"/>
            <a:ext cx="4608576" cy="30723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5239512"/>
            <a:ext cx="49240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对应成分身份与效应，区分关联和因果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8" name="topic-frame-research-4"/>
          <p:cNvSpPr/>
          <p:nvPr/>
        </p:nvSpPr>
        <p:spPr>
          <a:xfrm>
            <a:off x="6423660" y="1152144"/>
            <a:ext cx="5216652" cy="5157216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69964" y="1307592"/>
            <a:ext cx="49240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候选评价与优先级</a:t>
            </a:r>
            <a:endParaRPr lang="en-US" sz="2400" dirty="0">
              <a:latin typeface="Arial"/>
              <a:ea typeface="微软雅黑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031986" y="2976372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031986" y="3963924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500366" y="2199132"/>
            <a:ext cx="3063240" cy="77724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50658" y="2235708"/>
            <a:ext cx="2962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比较成分身份的可信度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00366" y="3186684"/>
            <a:ext cx="3063240" cy="77724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50658" y="3223260"/>
            <a:ext cx="2962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并列效应与安全性支持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500366" y="4174236"/>
            <a:ext cx="3063240" cy="77724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50658" y="4210812"/>
            <a:ext cx="2962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形成优先级及保留理由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69964" y="5239512"/>
            <a:ext cx="49240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综合成分明确性、效应与安全性资料</a:t>
            </a:r>
            <a:endParaRPr lang="en-US" sz="1800" dirty="0">
              <a:latin typeface="Arial"/>
              <a:ea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研究内容三｜作用解释与转化（拟开展）</a:t>
            </a:r>
            <a:endParaRPr lang="en-US" sz="3200" dirty="0">
              <a:latin typeface="Arial"/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66576" y="651052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6</a:t>
            </a:r>
            <a:endParaRPr lang="en-US" sz="1000" dirty="0">
              <a:latin typeface="Arial"/>
              <a:ea typeface="微软雅黑"/>
            </a:endParaRPr>
          </a:p>
        </p:txBody>
      </p:sp>
      <p:sp>
        <p:nvSpPr>
          <p:cNvPr id="4" name="topic-frame-research-5"/>
          <p:cNvSpPr/>
          <p:nvPr/>
        </p:nvSpPr>
        <p:spPr>
          <a:xfrm>
            <a:off x="548640" y="1152144"/>
            <a:ext cx="5216652" cy="5157216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07592"/>
            <a:ext cx="49240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直接作用与宿主反应</a:t>
            </a:r>
            <a:endParaRPr lang="en-US" sz="2400" dirty="0">
              <a:latin typeface="Arial"/>
              <a:ea typeface="微软雅黑"/>
            </a:endParaRPr>
          </a:p>
        </p:txBody>
      </p:sp>
      <p:pic>
        <p:nvPicPr>
          <p:cNvPr id="6" name="Image 0" descr="NP 居中，上分支连接直接作用假设，下分支连接宿主反应假设；两支各连接可解释现象与尚缺证据，末端汇合至综合机制解释。全部箭头标为待检验关系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2039112"/>
            <a:ext cx="4608576" cy="30723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5239512"/>
            <a:ext cx="49240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比较两类假设，识别关键分歧与证据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8" name="topic-frame-research-6"/>
          <p:cNvSpPr/>
          <p:nvPr/>
        </p:nvSpPr>
        <p:spPr>
          <a:xfrm>
            <a:off x="6423660" y="1152144"/>
            <a:ext cx="5216652" cy="5157216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69964" y="1307592"/>
            <a:ext cx="49240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开发与转化边界</a:t>
            </a:r>
            <a:endParaRPr lang="en-US" sz="2400" dirty="0">
              <a:latin typeface="Arial"/>
              <a:ea typeface="微软雅黑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031986" y="2976372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031986" y="3963924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500366" y="2199132"/>
            <a:ext cx="3063240" cy="77724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50658" y="2235708"/>
            <a:ext cx="2962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核对机制解释与效应一致性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00366" y="3186684"/>
            <a:ext cx="3063240" cy="77724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50658" y="3223260"/>
            <a:ext cx="2962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识别选择性与成分稳定性疑问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500366" y="4174236"/>
            <a:ext cx="3063240" cy="777240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50658" y="4210812"/>
            <a:ext cx="29626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界定后续开发与转化边界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69964" y="5239512"/>
            <a:ext cx="49240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核对效应与机制一致性，明确待补证据</a:t>
            </a:r>
            <a:endParaRPr lang="en-US" sz="1800" dirty="0">
              <a:latin typeface="Arial"/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研究计划（拟开展）</a:t>
            </a:r>
            <a:endParaRPr lang="en-US" sz="3200" dirty="0">
              <a:latin typeface="Arial"/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66576" y="651052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7</a:t>
            </a:r>
            <a:endParaRPr lang="en-US" sz="1000" dirty="0">
              <a:latin typeface="Arial"/>
              <a:ea typeface="微软雅黑"/>
            </a:endParaRPr>
          </a:p>
        </p:txBody>
      </p:sp>
      <p:sp>
        <p:nvSpPr>
          <p:cNvPr id="4" name="topic-frame-plan-1"/>
          <p:cNvSpPr/>
          <p:nvPr/>
        </p:nvSpPr>
        <p:spPr>
          <a:xfrm>
            <a:off x="548640" y="1124712"/>
            <a:ext cx="2580894" cy="5212080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280160"/>
            <a:ext cx="2324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01</a:t>
            </a:r>
            <a:endParaRPr lang="en-US" sz="2000" dirty="0">
              <a:latin typeface="Arial"/>
              <a:ea typeface="微软雅黑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47822" y="1463040"/>
            <a:ext cx="219456" cy="0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76656" y="1764792"/>
            <a:ext cx="23248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效应与边界</a:t>
            </a:r>
            <a:endParaRPr lang="en-US" sz="2200" dirty="0">
              <a:latin typeface="Arial"/>
              <a:ea typeface="微软雅黑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39087" y="3124200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39087" y="3907536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" y="2551176"/>
            <a:ext cx="2050542" cy="573024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108" y="2587752"/>
            <a:ext cx="194995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明确研究对象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3816" y="3334512"/>
            <a:ext cx="2050542" cy="573024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" y="3371088"/>
            <a:ext cx="194995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确定核心比较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3816" y="4117848"/>
            <a:ext cx="2050542" cy="573024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" y="4154424"/>
            <a:ext cx="194995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形成解释规则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6656" y="5029200"/>
            <a:ext cx="232486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形成核心问题、比较关系与结果解释规则。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17" name="topic-frame-plan-2"/>
          <p:cNvSpPr/>
          <p:nvPr/>
        </p:nvSpPr>
        <p:spPr>
          <a:xfrm>
            <a:off x="3385566" y="1124712"/>
            <a:ext cx="2580894" cy="5212080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13582" y="1280160"/>
            <a:ext cx="2324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02</a:t>
            </a:r>
            <a:endParaRPr lang="en-US" sz="2000" dirty="0">
              <a:latin typeface="Arial"/>
              <a:ea typeface="微软雅黑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84748" y="1463040"/>
            <a:ext cx="219456" cy="0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513582" y="1764792"/>
            <a:ext cx="23248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成分与候选</a:t>
            </a:r>
            <a:endParaRPr lang="en-US" sz="2200" dirty="0">
              <a:latin typeface="Arial"/>
              <a:ea typeface="微软雅黑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76013" y="3124200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76013" y="3907536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650742" y="2551176"/>
            <a:ext cx="2050542" cy="573024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1034" y="2587752"/>
            <a:ext cx="194995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核对植物与成分资料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0742" y="3334512"/>
            <a:ext cx="2050542" cy="573024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1034" y="3371088"/>
            <a:ext cx="194995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对应成分与效应线索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50742" y="4117848"/>
            <a:ext cx="2050542" cy="573024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1034" y="4154424"/>
            <a:ext cx="194995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形成候选清单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513582" y="5029200"/>
            <a:ext cx="232486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区分成分确认、关联线索与待核查信息。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30" name="topic-frame-plan-3"/>
          <p:cNvSpPr/>
          <p:nvPr/>
        </p:nvSpPr>
        <p:spPr>
          <a:xfrm>
            <a:off x="6222492" y="1124712"/>
            <a:ext cx="2580894" cy="5212080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0508" y="1280160"/>
            <a:ext cx="2324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03</a:t>
            </a:r>
            <a:endParaRPr lang="en-US" sz="2000" dirty="0">
              <a:latin typeface="Arial"/>
              <a:ea typeface="微软雅黑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821674" y="1463040"/>
            <a:ext cx="219456" cy="0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350508" y="1764792"/>
            <a:ext cx="23248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机制与分歧</a:t>
            </a:r>
            <a:endParaRPr lang="en-US" sz="2200" dirty="0">
              <a:latin typeface="Arial"/>
              <a:ea typeface="微软雅黑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512939" y="3124200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512939" y="3907536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487668" y="2551176"/>
            <a:ext cx="2050542" cy="573024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2587752"/>
            <a:ext cx="194995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列出作用解释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87668" y="3334512"/>
            <a:ext cx="2050542" cy="573024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3371088"/>
            <a:ext cx="194995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识别关键分歧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87668" y="4117848"/>
            <a:ext cx="2050542" cy="573024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4154424"/>
            <a:ext cx="194995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整理支持与反驳证据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50508" y="5029200"/>
            <a:ext cx="232486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形成可检验假设及不同结果的解释路径。</a:t>
            </a:r>
            <a:endParaRPr lang="en-US" sz="1800" dirty="0">
              <a:latin typeface="Arial"/>
              <a:ea typeface="微软雅黑"/>
            </a:endParaRPr>
          </a:p>
        </p:txBody>
      </p:sp>
      <p:sp>
        <p:nvSpPr>
          <p:cNvPr id="43" name="topic-frame-plan-4"/>
          <p:cNvSpPr/>
          <p:nvPr/>
        </p:nvSpPr>
        <p:spPr>
          <a:xfrm>
            <a:off x="9059418" y="1124712"/>
            <a:ext cx="2580894" cy="5212080"/>
          </a:xfrm>
          <a:prstGeom prst="rect">
            <a:avLst/>
          </a:prstGeom>
          <a:solidFill>
            <a:srgbClr val="FFFFFF"/>
          </a:solidFill>
          <a:ln w="13970">
            <a:solidFill>
              <a:srgbClr val="A8C3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87434" y="1280160"/>
            <a:ext cx="2324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04</a:t>
            </a:r>
            <a:endParaRPr lang="en-US" sz="2000" dirty="0">
              <a:latin typeface="Arial"/>
              <a:ea typeface="微软雅黑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187434" y="1764792"/>
            <a:ext cx="23248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复核与转化</a:t>
            </a:r>
            <a:endParaRPr lang="en-US" sz="2200" dirty="0">
              <a:latin typeface="Arial"/>
              <a:ea typeface="微软雅黑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0349865" y="3124200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349865" y="3907536"/>
            <a:ext cx="0" cy="210312"/>
          </a:xfrm>
          <a:prstGeom prst="line">
            <a:avLst/>
          </a:prstGeom>
          <a:noFill/>
          <a:ln w="17780">
            <a:solidFill>
              <a:srgbClr val="07523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324594" y="2551176"/>
            <a:ext cx="2050542" cy="573024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74886" y="2587752"/>
            <a:ext cx="194995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复核关键证据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324594" y="3334512"/>
            <a:ext cx="2050542" cy="573024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74886" y="3371088"/>
            <a:ext cx="194995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界定可支持结论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9324594" y="4117848"/>
            <a:ext cx="2050542" cy="573024"/>
          </a:xfrm>
          <a:prstGeom prst="roundRect">
            <a:avLst/>
          </a:prstGeom>
          <a:solidFill>
            <a:srgbClr val="F7F9F6"/>
          </a:solidFill>
          <a:ln w="12700">
            <a:solidFill>
              <a:srgbClr val="A8C3B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74886" y="4154424"/>
            <a:ext cx="1949958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形成后续研究依据</a:t>
            </a:r>
            <a:endParaRPr lang="en-US" sz="1600" dirty="0">
              <a:latin typeface="Arial"/>
              <a:ea typeface="微软雅黑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187434" y="5029200"/>
            <a:ext cx="232486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明确可支持结论、剩余疑问与后续开发边界。</a:t>
            </a:r>
            <a:endParaRPr lang="en-US" sz="1800" dirty="0">
              <a:latin typeface="Arial"/>
              <a:ea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75238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参考文献</a:t>
            </a:r>
            <a:endParaRPr lang="en-US" sz="3200" dirty="0">
              <a:latin typeface="Arial"/>
              <a:ea typeface="微软雅黑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66576" y="651052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8</a:t>
            </a:r>
            <a:endParaRPr lang="en-US" sz="1000" dirty="0">
              <a:latin typeface="Arial"/>
              <a:ea typeface="微软雅黑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8912" y="1298448"/>
            <a:ext cx="111922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[1] Li Li et al. Influenza-associated excess respiratory mortality in China, 2010–15: a population-based study</a:t>
            </a:r>
            <a:endParaRPr lang="en-US" sz="1400" dirty="0">
              <a:latin typeface="Arial"/>
              <a:ea typeface="微软雅黑"/>
            </a:endParaRPr>
          </a:p>
          <a:p>
            <a:pPr indent="0" marL="0">
              <a:buNone/>
            </a:pPr>
            <a:r>
              <a:rPr lang="en-US" sz="14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The Lancet Public Health 2019 · DOI: 10.1016/S2468-2667(19)30163-X</a:t>
            </a:r>
            <a:endParaRPr lang="en-US" sz="1400" dirty="0">
              <a:latin typeface="Arial"/>
              <a:ea typeface="微软雅黑"/>
            </a:endParaRPr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438912" y="2267712"/>
            <a:ext cx="11192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u="sng" dirty="0">
                <a:solidFill>
                  <a:srgbClr val="1A9C96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https://pubmed.ncbi.nlm.nih.gov/31493844/</a:t>
            </a:r>
            <a:endParaRPr lang="en-US" sz="1100" dirty="0">
              <a:latin typeface="Arial"/>
              <a:ea typeface="微软雅黑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8912" y="2532888"/>
            <a:ext cx="111922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[2] Hayden FG et al. Baloxavir Marboxil for Uncomplicated Influenza in Adults and Adolescents</a:t>
            </a:r>
            <a:endParaRPr lang="en-US" sz="1400" dirty="0">
              <a:latin typeface="Arial"/>
              <a:ea typeface="微软雅黑"/>
            </a:endParaRPr>
          </a:p>
          <a:p>
            <a:pPr indent="0" marL="0">
              <a:buNone/>
            </a:pPr>
            <a:r>
              <a:rPr lang="en-US" sz="14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New England Journal of Medicine 2018 · DOI: 10.1056/NEJMoa1716197</a:t>
            </a:r>
            <a:endParaRPr lang="en-US" sz="1400" dirty="0">
              <a:latin typeface="Arial"/>
              <a:ea typeface="微软雅黑"/>
            </a:endParaRPr>
          </a:p>
        </p:txBody>
      </p:sp>
      <p:sp>
        <p:nvSpPr>
          <p:cNvPr id="7" name="Text 5">
            <a:hlinkClick r:id="rId2" tooltip=""/>
          </p:cNvPr>
          <p:cNvSpPr/>
          <p:nvPr/>
        </p:nvSpPr>
        <p:spPr>
          <a:xfrm>
            <a:off x="438912" y="3502152"/>
            <a:ext cx="11192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u="sng" dirty="0">
                <a:solidFill>
                  <a:srgbClr val="1A9C96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https://www.nejm.org/doi/full/10.1056/NEJMoa1716197</a:t>
            </a:r>
            <a:endParaRPr lang="en-US" sz="1100" dirty="0">
              <a:latin typeface="Arial"/>
              <a:ea typeface="微软雅黑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3767328"/>
            <a:ext cx="111922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[3] Ping Geng et al. Baicalin Inhibits Influenza A Virus Infection via Promotion of M1 Macrophage Polarization</a:t>
            </a:r>
            <a:endParaRPr lang="en-US" sz="1400" dirty="0">
              <a:latin typeface="Arial"/>
              <a:ea typeface="微软雅黑"/>
            </a:endParaRPr>
          </a:p>
          <a:p>
            <a:pPr indent="0" marL="0">
              <a:buNone/>
            </a:pPr>
            <a:r>
              <a:rPr lang="en-US" sz="14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Frontiers in Pharmacology 2020 · DOI: 10.3389/fphar.2020.01298</a:t>
            </a:r>
            <a:endParaRPr lang="en-US" sz="1400" dirty="0">
              <a:latin typeface="Arial"/>
              <a:ea typeface="微软雅黑"/>
            </a:endParaRPr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438912" y="4736592"/>
            <a:ext cx="11192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u="sng" dirty="0">
                <a:solidFill>
                  <a:srgbClr val="1A9C96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https://doi.org/10.3389/fphar.2020.01298</a:t>
            </a:r>
            <a:endParaRPr lang="en-US" sz="1100" dirty="0">
              <a:latin typeface="Arial"/>
              <a:ea typeface="微软雅黑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" y="5001768"/>
            <a:ext cx="111922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[4] Mann-Jen Hour et al. Baicalein, Ethyl Acetate, and Chloroform Extracts of Scutellaria baicalensis Inhibit the Neuraminidase Activity of Pandemic 2009 H1N1 and Seasonal Influenza A Viruses</a:t>
            </a:r>
            <a:endParaRPr lang="en-US" sz="1400" dirty="0">
              <a:latin typeface="Arial"/>
              <a:ea typeface="微软雅黑"/>
            </a:endParaRPr>
          </a:p>
          <a:p>
            <a:pPr indent="0" marL="0">
              <a:buNone/>
            </a:pPr>
            <a:r>
              <a:rPr lang="en-US" sz="1400" dirty="0">
                <a:solidFill>
                  <a:srgbClr val="234137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</a:rPr>
              <a:t>Evidence-Based Complementary and Alternative Medicine 2013 · DOI: 10.1155/2013/750803</a:t>
            </a:r>
            <a:endParaRPr lang="en-US" sz="1400" dirty="0">
              <a:latin typeface="Arial"/>
              <a:ea typeface="微软雅黑"/>
            </a:endParaRPr>
          </a:p>
        </p:txBody>
      </p:sp>
      <p:sp>
        <p:nvSpPr>
          <p:cNvPr id="11" name="Text 9">
            <a:hlinkClick r:id="rId4" tooltip=""/>
          </p:cNvPr>
          <p:cNvSpPr/>
          <p:nvPr/>
        </p:nvSpPr>
        <p:spPr>
          <a:xfrm>
            <a:off x="438912" y="5971032"/>
            <a:ext cx="11192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u="sng" dirty="0">
                <a:solidFill>
                  <a:srgbClr val="1A9C96"/>
                </a:solidFill>
                <a:latin typeface="Arial" pitchFamily="34" charset="0"/>
                <a:ea typeface="微软雅黑" pitchFamily="34" charset="-122"/>
                <a:cs typeface="Arial Unicode M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https://doi.org/10.1155/2013/750803</a:t>
            </a:r>
            <a:endParaRPr lang="en-US" sz="1100" dirty="0">
              <a:latin typeface="Arial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  <a:cs typeface=""/>
        <a:font script="Jpan" typeface="游ゴシック Light"/>
        <a:font script="Hang" typeface="맑은 고딕"/>
        <a:font script="Hans" typeface="微软雅黑"/>
        <a:font script="Hant" typeface="微软雅黑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微软雅黑"/>
        <a:cs typeface=""/>
        <a:font script="Jpan" typeface="游ゴシック"/>
        <a:font script="Hang" typeface="맑은 고딕"/>
        <a:font script="Hans" typeface="微软雅黑"/>
        <a:font script="Hant" typeface="微软雅黑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植物来源天然产物的抗流感候选价值与活性成分研究</dc:title>
  <dc:subject>植物来源天然产物的抗流感候选价值与活性成分研究</dc:subject>
  <dc:creator>Research Slide Workflow</dc:creator>
  <cp:lastModifiedBy>Research Slide Workflow</cp:lastModifiedBy>
  <cp:revision>1</cp:revision>
  <dcterms:created xsi:type="dcterms:W3CDTF">2026-10-14T13:15:52Z</dcterms:created>
  <dcterms:modified xsi:type="dcterms:W3CDTF">2026-10-14T13:15:52Z</dcterms:modified>
</cp:coreProperties>
</file>