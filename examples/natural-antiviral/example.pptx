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症状缓解中位时间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 Unicode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巴洛沙韦</c:v>
                </c:pt>
                <c:pt idx="1">
                  <c:v>安慰剂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53.7</c:v>
                </c:pt>
                <c:pt idx="1">
                  <c:v>80.2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 Unicode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 Unicode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5776E"/>
                </a:solidFill>
                <a:latin typeface="Arial Unicode MS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选择性比值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 Unicode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季节性H1N1（2007）</c:v>
                </c:pt>
                <c:pt idx="1">
                  <c:v>大流行H1N1（2009）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2.5</c:v>
                </c:pt>
                <c:pt idx="1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 Unicode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 Unicode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5776E"/>
                </a:solidFill>
                <a:latin typeface="Arial Unicode MS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研究背景｜证据链
老年人流感死亡负担: ≥60岁死亡率较高
中国2010–15年估计
Statement type: evidence
Evidence audit:
{
  "status": "checked",
  "sourceIds": [
    "li2019"
  ],
  "claimIds": [
    "li2019-age-respiratory-mortality"
  ],
  "locator": "Table1: Average annual influenza-associated excess respiratory mortality rate, All influenza column, &lt;60 y and ≥60 y rows; Results age-specific paragraph (NCBI BioC offset15086); PubMed abstract Findings.",
  "reviewed": true,
  "reviewer": "Codex influenza_evidence: independent primary-source review",
  "reviewNote": "2026-10-13独立核对原文Table1的All influenza列，并与Results中年龄分层段落和PubMed Findings交叉核对：&lt;60岁点估计1.5、95%CI1.1–1.9；≥60岁点估计38.5、95%CI36.8–40.2。图中values是真实报告的平均每季超额呼吸死亡率模型点估计，不是由上下界推算的midpoint。人口为中国大陆，季节范围为2010–11至2014–15，流感A/B合计；不是A型单独死亡率，也不是当前年度统计。标题和caption仅比较原文的人群超额呼吸死亡率，不把死亡率、人数、全因死亡或天然产物临床疗效混为一谈。原文为观察性人群统计建模研究，非治疗试验。"
}
Native editable data:
{
  "type": "interval",
  "categories": [
    "&lt;60岁",
    "≥60岁"
  ],
  "series": [
    {
      "name": "超额呼吸死亡率",
      "values": [
        1.5,
        38.5
      ],
      "lower": [
        1.1,
        36.8
      ],
      "upper": [
        1.9,
        40.2
      ]
    }
  ],
  "unit": "例/10万人季",
  "intervalLabel": "95%CI",
  "axis": {
    "min": 0,
    "max": 45,
    "majorUnit": 20,
    "title": "超额呼吸死亡率（例/10万人季）",
    "format": "0.0"
  },
  "dataChecked": true,
  "sourceIds": [
    "li2019"
  ],
  "locator": "Table1, All influenza column, &lt;60 y and ≥60 y rows",
  "statistic": "Reported average seasonal model point estimates with95%confidence intervals; not inferred interval midpoints",
  "footnote": "中国2010–11至2014–15季；季节性A/B合计；点为模型估计，线为95%CI。非当前年度统计。"
}
现药临床获益: 症状缓解中位时间
53.7 vs 80.2小时
非复杂流感门诊试验
Statement type: evidence
Evidence audit:
{
  "status": "checked",
  "sourceIds": [
    "hayden2018"
  ],
  "claimIds": [
    "hayden-symptom-alleviation"
  ],
  "locator": "NEJM Results → Phase 3 Trial → Clinical and Virologic Efficacy; Figure 2 caption; Methods → Outcomes Measured; PubMed abstract Results.",
  "reviewed": true,
  "reviewer": "Codex influenza_evidence: independent primary-source review",
  "reviewNote": "2026-10-13独立核对PubMed Results及NEJM主论文索引全文Figure 2图注：两组为53.7（95%CI 49.5–58.5）及80.2（72.6–87.1）小时，Figure 2可评价数分别455及230。首作者、题名、2018年卷期页、DOI与PubMed/Crossref匹配。主张、柱数据及caption均限于症状缓解中位时间；未以中位数重建生存曲线，未将一般健康非复杂流感门诊患者外推至重症，亦不视为植物天然产物证据。"
}
Native editable data:
{
  "type": "bar",
  "categories": [
    "巴洛沙韦",
    "安慰剂"
  ],
  "series": [
    {
      "name": "症状缓解中位时间",
      "values": [
        53.7,
        80.2
      ]
    }
  ],
  "unit": "小时",
  "axis": {
    "title": "症状缓解中位时间（小时）",
    "min": 0,
    "max": 100,
    "majorUnit": 25,
    "format": "0.0"
  },
  "sourceIds": [
    "hayden2018"
  ],
  "locator": "Figure 2 caption; PubMed abstract Results",
  "dataChecked": true,
  "statistic": "median time to symptom alleviation",
  "footnote": "可评价n=455/230；门诊非复杂流感，不代表重症或天然产物疗效。",
  "confidenceIntervals": {
    "level": 95,
    "lower": [
      49.5,
      72.6
    ],
    "upper": [
      58.5,
      87.1
    ],
    "unit": "小时",
    "notPlotted": true
  },
  "nEvaluable": [
    455,
    230
  ],
  "nITTInfected": [
    456,
    231
  ]
}
植物来源候选依据: 黄芩苷宿主反应
原图纵轴从90%起
Statement type: evidence
Evidence audit:
{
  "status": "checked",
  "sourceIds": [
    "geng2020"
  ],
  "claimIds": [
    "geng-host-response-figure"
  ],
  "locator": "Figure 1D and Abstract Results",
  "reviewed": true,
  "reviewer": "Codex primary-source figure review",
  "reviewNote": "Independently checked Figure1D, its original legend and the Results. The selected panel shows M1 macrophage proportions, retaining original bars, error bars, significance markers, group labels and the90%axis baseline. It does not alone establish antiviral potency or clinical efficacy. BA denotes baicalin; this external published result is not plantX/NP project data. Original publisher figure panel is reused under CCBY4.0, with attribution; no data are redrawn or estimated from pixels."
}
Image: assets/geng2020-fig1d.png
Role: source
License: CC BY 4.0
本课题研究目标: 粗提物与NP候选价值
成分、效应与作用解释
Statement type: proposed
Native editable proposed design:
{
  "type": "diagram",
  "role": "design",
  "direction": "vertical",
  "nodes": [
    {
      "id": "goal-0",
      "label": "粗提物候选价值"
    },
    {
      "id": "goal-1",
      "label": "活性成分与NP"
    },
    {
      "id": "goal-2",
      "label": "作用解释与转化边界"
    }
  ],
  "edges": [
    {
      "from": "goal-0",
      "to": "goal-1"
    },
    {
      "from": "goal-1",
      "to": "goal-2"
    }
  ]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科学问题｜研究假设（拟议）
Main scientific question: 植物 X 中哪些天然产物具有抗流感候选价值，如何解释其作用？
研究对象: 植物 X 粗提物与候选天然产物 NP
Statement type: proposed
Image: assets/concept-0.png
Role: design
License: AI design; see asset manifest
核心比较: 抗流感效应与宿主安全性并行解释
Statement type: proposed
Image: assets/concept-1.png
Role: design
License: AI design; see asset manifest
解释目标: 建立成分、效应与作用路径的联系
Statement type: proposed
Image: assets/concept-2.png
Role: design
License: AI design; see asset manifest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前期材料｜已核查来源
效应必须结合毒性解释: 黄芩素选择性比值
2.5与2.3
文献结果，非NP数据
Statement type: evidence
Evidence audit:
{
  "status": "checked",
  "sourceIds": [
    "hour2013"
  ],
  "claimIds": [
    "hour-selectivity"
  ],
  "locator": "Table 4, baicalein row, therapeutic index columns",
  "reviewed": true,
  "reviewer": "Codex primary-source review",
  "reviewNote": "Checked Table4 baicalein row and the authors therapeutic-index definition. The reported dimensionless ratios are2.5 for seasonal2007 H1N1 and2.3 for pandemic2009 H1N1. These are different H1N1 backgrounds, not H1N1-versus-H3N2. No concentrations, operating conditions, growth parameters or per-patient results are reproduced. The ratio is a high-level preclinical selectivity measure, not a clinical therapeutic window and not userNP data."
}
Native editable data:
{
  "type": "bar",
  "categories": [
    "季节性H1N1（2007）",
    "大流行H1N1（2009）"
  ],
  "series": [
    {
      "name": "选择性比值",
      "values": [
        2.5,
        2.3
      ]
    }
  ],
  "unit": "无量纲比值",
  "sourceIds": [
    "hour2013"
  ],
  "locator": "Table 4, baicalein row",
  "dataChecked": true,
  "axis": {
    "min": 0,
    "max": 3,
    "majorUnit": 1,
    "title": "体外选择性比值",
    "format": "0.0"
  },
  "statistic": "Authors reported CC50/IC50 ratios, labelled therapeutic index",
  "footnote": "研究中两类H1N1的体外选择性比值；不是临床治疗窗。数据据原文重绘。"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研究内容一｜粗提物候选价值
粗提物抗流感候选价值: 评价粗提物 X 的效应与可复核性
Statement type: proposed
Image: assets/concept-1.png
Role: design
License: AI design; see asset manifest
Proposed deliverable: 粗提物证据判断
效应与宿主安全性: 同时关注选择性，区分效应与宿主损伤
Statement type: proposed
Native editable proposed design:
{
  "type": "diagram",
  "role": "design",
  "direction": "vertical",
  "nodes": [
    {
      "id": "research-2-node-1",
      "label": "并列呈现效应与安全性"
    },
    {
      "id": "research-2-node-2",
      "label": "辨别有益信号与损伤信号"
    },
    {
      "id": "research-2-node-3",
      "label": "标明候选价值的适用范围"
    }
  ],
  "edges": [
    {
      "from": "research-2-node-1",
      "to": "research-2-node-2"
    },
    {
      "from": "research-2-node-2",
      "to": "research-2-node-3"
    }
  ]
}
Proposed deliverable: 效应—安全性边界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研究内容二｜活性成分与候选评价
活性成分与NP: 对应成分身份与效应，区分关联和因果
Statement type: proposed
Image: assets/concept-0.png
Role: design
License: AI design; see asset manifest
Proposed deliverable: 成分—效应关联图
候选评价与优先级: 综合成分明确性、效应与安全性资料
Statement type: proposed
Native editable proposed design:
{
  "type": "diagram",
  "role": "design",
  "direction": "vertical",
  "nodes": [
    {
      "id": "research-4-node-1",
      "label": "比较成分身份的可信度"
    },
    {
      "id": "research-4-node-2",
      "label": "并列效应与安全性支持"
    },
    {
      "id": "research-4-node-3",
      "label": "形成优先级及保留理由"
    }
  ],
  "edges": [
    {
      "from": "research-4-node-1",
      "to": "research-4-node-2"
    },
    {
      "from": "research-4-node-2",
      "to": "research-4-node-3"
    }
  ]
}
Proposed deliverable: 候选优先级及理由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研究内容三｜作用解释与转化
直接作用与宿主反应: 比较两类假设，识别关键分歧与证据
Statement type: proposed
Image: assets/concept-2.png
Role: design
License: AI design; see asset manifest
Proposed deliverable: 作用假设与关键分歧
开发与转化边界: 核对效应与机制一致性，明确待补证据
Statement type: proposed
Native editable proposed design:
{
  "type": "diagram",
  "role": "design",
  "direction": "vertical",
  "nodes": [
    {
      "id": "research-6-node-1",
      "label": "核对机制解释与效应一致性"
    },
    {
      "id": "research-6-node-2",
      "label": "识别选择性与成分稳定性疑问"
    },
    {
      "id": "research-6-node-3",
      "label": "界定后续开发与转化边界"
    }
  ],
  "edges": [
    {
      "from": "research-6-node-1",
      "to": "research-6-node-2"
    },
    {
      "from": "research-6-node-2",
      "to": "research-6-node-3"
    }
  ]
}
Proposed deliverable: 后续开发依据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后续计划｜效应、成分、机制与转化
效应与边界: 形成核心问题、比较关系与结果解释规则。
Statement type: proposed
Native editable proposed design:
{
  "type": "diagram",
  "role": "design",
  "direction": "vertical",
  "nodes": [
    {
      "id": "plan-1-node-1",
      "label": "明确研究对象"
    },
    {
      "id": "plan-1-node-2",
      "label": "确定核心比较"
    },
    {
      "id": "plan-1-node-3",
      "label": "形成解释规则"
    }
  ],
  "edges": [
    {
      "from": "plan-1-node-1",
      "to": "plan-1-node-2"
    },
    {
      "from": "plan-1-node-2",
      "to": "plan-1-node-3"
    }
  ]
}
Proposed deliverable: 效应—安全性框架
成分与候选: 区分成分确认、关联线索与待核查信息。
Statement type: proposed
Native editable proposed design:
{
  "type": "diagram",
  "role": "design",
  "direction": "vertical",
  "nodes": [
    {
      "id": "plan-2-node-1",
      "label": "核对植物与成分资料"
    },
    {
      "id": "plan-2-node-2",
      "label": "对应成分与效应线索"
    },
    {
      "id": "plan-2-node-3",
      "label": "形成候选清单"
    }
  ],
  "edges": [
    {
      "from": "plan-2-node-1",
      "to": "plan-2-node-2"
    },
    {
      "from": "plan-2-node-2",
      "to": "plan-2-node-3"
    }
  ]
}
Proposed deliverable: 成分证据与候选清单
机制与分歧: 形成可检验假设及不同结果的解释路径。
Statement type: proposed
Native editable proposed design:
{
  "type": "diagram",
  "role": "design",
  "direction": "vertical",
  "nodes": [
    {
      "id": "plan-3-node-1",
      "label": "列出作用解释"
    },
    {
      "id": "plan-3-node-2",
      "label": "识别关键分歧"
    },
    {
      "id": "plan-3-node-3",
      "label": "整理支持与反驳证据"
    }
  ],
  "edges": [
    {
      "from": "plan-3-node-1",
      "to": "plan-3-node-2"
    },
    {
      "from": "plan-3-node-2",
      "to": "plan-3-node-3"
    }
  ]
}
Proposed deliverable: 作用假设与分歧图
复核与转化: 明确可支持结论、剩余疑问与后续开发边界。
Statement type: proposed
Native editable proposed design:
{
  "type": "diagram",
  "role": "design",
  "direction": "vertical",
  "nodes": [
    {
      "id": "plan-4-node-1",
      "label": "复核关键证据"
    },
    {
      "id": "plan-4-node-2",
      "label": "界定可支持结论"
    },
    {
      "id": "plan-4-node-3",
      "label": "形成后续研究依据"
    }
  ],
  "edges": [
    {
      "from": "plan-4-node-1",
      "to": "plan-4-node-2"
    },
    {
      "from": "plan-4-node-2",
      "to": "plan-4-node-3"
    }
  ]
}
Proposed deliverable: 后续研究依据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Topic: 植物来源天然产物的抗流感候选价值与活性成分研究
Slide title: 参考文献｜来源与核查状态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1493844/" TargetMode="External"/><Relationship Id="rId2" Type="http://schemas.openxmlformats.org/officeDocument/2006/relationships/hyperlink" Target="https://www.nejm.org/doi/full/10.1056/NEJMoa1716197" TargetMode="External"/><Relationship Id="rId3" Type="http://schemas.openxmlformats.org/officeDocument/2006/relationships/hyperlink" Target="https://doi.org/10.3389/fphar.2020.01298" TargetMode="External"/><Relationship Id="rId4" Type="http://schemas.openxmlformats.org/officeDocument/2006/relationships/hyperlink" Target="https://doi.org/10.1155/2013/7508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研究背景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97864"/>
            <a:ext cx="26083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问题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85216" y="1645920"/>
            <a:ext cx="253517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老年人流感死亡负担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12648" y="2267712"/>
            <a:ext cx="24803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超额呼吸死亡率（例/10万人季）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2551176"/>
            <a:ext cx="248031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95%CI (例/10万人季)</a:t>
            </a:r>
            <a:endParaRPr lang="en-US" sz="1100" dirty="0"/>
          </a:p>
        </p:txBody>
      </p:sp>
      <p:sp>
        <p:nvSpPr>
          <p:cNvPr id="8" name="interval-series-0-category-0-category"/>
          <p:cNvSpPr/>
          <p:nvPr/>
        </p:nvSpPr>
        <p:spPr>
          <a:xfrm>
            <a:off x="612648" y="2770632"/>
            <a:ext cx="685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&lt;60岁</a:t>
            </a:r>
            <a:endParaRPr lang="en-US" sz="1200" dirty="0"/>
          </a:p>
        </p:txBody>
      </p:sp>
      <p:sp>
        <p:nvSpPr>
          <p:cNvPr id="9" name="interval-series-0-category-0-segment"/>
          <p:cNvSpPr/>
          <p:nvPr/>
        </p:nvSpPr>
        <p:spPr>
          <a:xfrm>
            <a:off x="1447415" y="2880360"/>
            <a:ext cx="28654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0" name="interval-series-0-category-0-lower"/>
          <p:cNvSpPr/>
          <p:nvPr/>
        </p:nvSpPr>
        <p:spPr>
          <a:xfrm>
            <a:off x="1447415" y="282092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1" name="interval-series-0-category-0-upper"/>
          <p:cNvSpPr/>
          <p:nvPr/>
        </p:nvSpPr>
        <p:spPr>
          <a:xfrm>
            <a:off x="1476069" y="282092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2" name="interval-series-0-category-0-reported-point"/>
          <p:cNvSpPr/>
          <p:nvPr/>
        </p:nvSpPr>
        <p:spPr>
          <a:xfrm>
            <a:off x="1429738" y="2848356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13" name="interval-series-0-category-0-range"/>
          <p:cNvSpPr/>
          <p:nvPr/>
        </p:nvSpPr>
        <p:spPr>
          <a:xfrm>
            <a:off x="1408016" y="2971800"/>
            <a:ext cx="16117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1.5 (1.1–1.9)</a:t>
            </a:r>
            <a:endParaRPr lang="en-US" sz="1100" dirty="0"/>
          </a:p>
        </p:txBody>
      </p:sp>
      <p:sp>
        <p:nvSpPr>
          <p:cNvPr id="14" name="interval-series-0-category-1-category"/>
          <p:cNvSpPr/>
          <p:nvPr/>
        </p:nvSpPr>
        <p:spPr>
          <a:xfrm>
            <a:off x="612648" y="3342132"/>
            <a:ext cx="685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≥60岁</a:t>
            </a:r>
            <a:endParaRPr lang="en-US" sz="1200" dirty="0"/>
          </a:p>
        </p:txBody>
      </p:sp>
      <p:sp>
        <p:nvSpPr>
          <p:cNvPr id="15" name="interval-series-0-category-1-segment"/>
          <p:cNvSpPr/>
          <p:nvPr/>
        </p:nvSpPr>
        <p:spPr>
          <a:xfrm>
            <a:off x="2726102" y="3451860"/>
            <a:ext cx="121780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6" name="interval-series-0-category-1-lower"/>
          <p:cNvSpPr/>
          <p:nvPr/>
        </p:nvSpPr>
        <p:spPr>
          <a:xfrm>
            <a:off x="2726102" y="339242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7" name="interval-series-0-category-1-upper"/>
          <p:cNvSpPr/>
          <p:nvPr/>
        </p:nvSpPr>
        <p:spPr>
          <a:xfrm>
            <a:off x="2847882" y="339242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8" name="interval-series-0-category-1-reported-point"/>
          <p:cNvSpPr/>
          <p:nvPr/>
        </p:nvSpPr>
        <p:spPr>
          <a:xfrm>
            <a:off x="2754988" y="3419856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19" name="interval-series-0-category-1-range"/>
          <p:cNvSpPr/>
          <p:nvPr/>
        </p:nvSpPr>
        <p:spPr>
          <a:xfrm>
            <a:off x="1408016" y="3543300"/>
            <a:ext cx="16117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38.5 (36.8–40.2)</a:t>
            </a:r>
            <a:endParaRPr lang="en-US" sz="1100" dirty="0"/>
          </a:p>
        </p:txBody>
      </p:sp>
      <p:sp>
        <p:nvSpPr>
          <p:cNvPr id="20" name="interval-axis"/>
          <p:cNvSpPr/>
          <p:nvPr/>
        </p:nvSpPr>
        <p:spPr>
          <a:xfrm>
            <a:off x="1408016" y="3913632"/>
            <a:ext cx="1611790" cy="0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1" name="interval-axis-tick-0"/>
          <p:cNvSpPr/>
          <p:nvPr/>
        </p:nvSpPr>
        <p:spPr>
          <a:xfrm>
            <a:off x="1408016" y="3913632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61712" y="398221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interval-axis-tick-1"/>
          <p:cNvSpPr/>
          <p:nvPr/>
        </p:nvSpPr>
        <p:spPr>
          <a:xfrm>
            <a:off x="2124367" y="3913632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78063" y="398221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20</a:t>
            </a:r>
            <a:endParaRPr lang="en-US" sz="1000" dirty="0"/>
          </a:p>
        </p:txBody>
      </p:sp>
      <p:sp>
        <p:nvSpPr>
          <p:cNvPr id="25" name="interval-axis-tick-2"/>
          <p:cNvSpPr/>
          <p:nvPr/>
        </p:nvSpPr>
        <p:spPr>
          <a:xfrm>
            <a:off x="2840718" y="3913632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4414" y="398221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4251960"/>
            <a:ext cx="248031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中国2010–11至2014–15季；季节性A/B合计；点为模型估计，线为95%CI。非当前年度统计。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709160"/>
            <a:ext cx="2608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据文献数据重绘 [1]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76072" y="5120640"/>
            <a:ext cx="255346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≥60岁死亡率较高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中国2010–15年估计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175254" y="1380744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3376422" y="1197864"/>
            <a:ext cx="26083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现状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12998" y="1645920"/>
            <a:ext cx="253517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现药临床获益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440430" y="2313432"/>
            <a:ext cx="248031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症状缓解中位时间（小时）</a:t>
            </a:r>
            <a:endParaRPr lang="en-US" sz="13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3422142" y="2624328"/>
          <a:ext cx="2516886" cy="15636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Text 32"/>
          <p:cNvSpPr/>
          <p:nvPr/>
        </p:nvSpPr>
        <p:spPr>
          <a:xfrm>
            <a:off x="3440430" y="4233672"/>
            <a:ext cx="248031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可评价n=455/230；门诊非复杂流感，不代表重症或天然产物疗效。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3376422" y="4709160"/>
            <a:ext cx="2608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据文献数据重绘 [2]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3403854" y="5120640"/>
            <a:ext cx="255346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症状缓解中位时间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53.7 vs 80.2小时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非复杂流感门诊试验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003036" y="1380744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6204204" y="1197864"/>
            <a:ext cx="26083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对策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6240780" y="1645920"/>
            <a:ext cx="253517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植物来源候选依据</a:t>
            </a:r>
            <a:endParaRPr lang="en-US" sz="1800" dirty="0"/>
          </a:p>
        </p:txBody>
      </p:sp>
      <p:pic>
        <p:nvPicPr>
          <p:cNvPr id="41" name="Image 0" descr="Geng2020 Figure1D: published macrophage phenotype result; original axis begins at90%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2651324"/>
            <a:ext cx="2553462" cy="150048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6204204" y="4709160"/>
            <a:ext cx="2608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文献原图 [3] · CC BY 4.0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231636" y="5120640"/>
            <a:ext cx="255346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黄芩苷宿主反应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原图纵轴从90%起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8830818" y="1380744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5" name="Text 41"/>
          <p:cNvSpPr/>
          <p:nvPr/>
        </p:nvSpPr>
        <p:spPr>
          <a:xfrm>
            <a:off x="9031986" y="1197864"/>
            <a:ext cx="26083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目标</a:t>
            </a:r>
            <a:endParaRPr lang="en-US" sz="2200" dirty="0"/>
          </a:p>
        </p:txBody>
      </p:sp>
      <p:sp>
        <p:nvSpPr>
          <p:cNvPr id="46" name="Text 42"/>
          <p:cNvSpPr/>
          <p:nvPr/>
        </p:nvSpPr>
        <p:spPr>
          <a:xfrm>
            <a:off x="9068562" y="1645920"/>
            <a:ext cx="253517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本课题研究目标</a:t>
            </a:r>
            <a:endParaRPr lang="en-US" sz="1800" dirty="0"/>
          </a:p>
        </p:txBody>
      </p:sp>
      <p:sp>
        <p:nvSpPr>
          <p:cNvPr id="47" name="Shape 43"/>
          <p:cNvSpPr/>
          <p:nvPr/>
        </p:nvSpPr>
        <p:spPr>
          <a:xfrm>
            <a:off x="10336149" y="289864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10336149" y="369417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196578" y="2313432"/>
            <a:ext cx="2279142" cy="58521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9246870" y="2350008"/>
            <a:ext cx="21785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粗提物候选价值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9196578" y="3108960"/>
            <a:ext cx="2279142" cy="58521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9246870" y="3145536"/>
            <a:ext cx="21785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活性成分与NP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9196578" y="3904488"/>
            <a:ext cx="2279142" cy="58521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9246870" y="3941064"/>
            <a:ext cx="21785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作用解释与转化边界</a:t>
            </a:r>
            <a:endParaRPr lang="en-US" sz="1600" dirty="0"/>
          </a:p>
        </p:txBody>
      </p:sp>
      <p:sp>
        <p:nvSpPr>
          <p:cNvPr id="55" name="Text 51"/>
          <p:cNvSpPr/>
          <p:nvPr/>
        </p:nvSpPr>
        <p:spPr>
          <a:xfrm>
            <a:off x="9031986" y="4709160"/>
            <a:ext cx="2608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56" name="Text 52"/>
          <p:cNvSpPr/>
          <p:nvPr/>
        </p:nvSpPr>
        <p:spPr>
          <a:xfrm>
            <a:off x="9059418" y="5120640"/>
            <a:ext cx="255346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粗提物与NP候选价值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成分、效应与作用解释</a:t>
            </a:r>
            <a:endParaRPr lang="en-US" sz="1800" dirty="0"/>
          </a:p>
        </p:txBody>
      </p:sp>
      <p:sp>
        <p:nvSpPr>
          <p:cNvPr id="57" name="Text 53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前三栏为已发表文献证据；目标为植物X与NP的拟议课题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科学问题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1338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植物 X 中哪些天然产物具有抗流感候选价值，如何解释其作用？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39696"/>
            <a:ext cx="3416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研究对象</a:t>
            </a:r>
            <a:endParaRPr lang="en-US" sz="2200" dirty="0"/>
          </a:p>
        </p:txBody>
      </p:sp>
      <p:pic>
        <p:nvPicPr>
          <p:cNvPr id="6" name="Image 0" descr="由粗提物整体效应延伸至候选成分，保留植物与化合物身份的待确认状态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725928"/>
            <a:ext cx="3343656" cy="22291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010912"/>
            <a:ext cx="3416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5216" y="5431536"/>
            <a:ext cx="3343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植物 X 粗提物与候选天然产物 NP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29456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4386072" y="2139696"/>
            <a:ext cx="3416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核心比较</a:t>
            </a:r>
            <a:endParaRPr lang="en-US" sz="2200" dirty="0"/>
          </a:p>
        </p:txBody>
      </p:sp>
      <p:pic>
        <p:nvPicPr>
          <p:cNvPr id="11" name="Image 1" descr="判断效应能否与宿主损伤区分，同时识别粗提物与候选成分的证据边界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648" y="2725928"/>
            <a:ext cx="3343656" cy="22291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86072" y="5010912"/>
            <a:ext cx="3416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422648" y="5431536"/>
            <a:ext cx="3343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抗流感效应与宿主安全性并行解释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7866888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5" name="Text 11"/>
          <p:cNvSpPr/>
          <p:nvPr/>
        </p:nvSpPr>
        <p:spPr>
          <a:xfrm>
            <a:off x="8223504" y="2139696"/>
            <a:ext cx="3416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解释目标</a:t>
            </a:r>
            <a:endParaRPr lang="en-US" sz="2200" dirty="0"/>
          </a:p>
        </p:txBody>
      </p:sp>
      <p:pic>
        <p:nvPicPr>
          <p:cNvPr id="16" name="Image 2" descr="解释哪些成分值得优先关注，以及直接作用或宿主反应各能解释哪些现象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80" y="2725928"/>
            <a:ext cx="3343656" cy="22291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3504" y="5010912"/>
            <a:ext cx="3416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8260080" y="5431536"/>
            <a:ext cx="3343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建立成分、效应与作用路径的联系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拟议问题｜需结合项目条件确认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已发表研究依据：效应与毒性须同时考虑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197864"/>
            <a:ext cx="109910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效应必须结合毒性解释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2039112"/>
            <a:ext cx="6720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体外选择性比值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50008"/>
          <a:ext cx="6757416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58368" y="5431536"/>
            <a:ext cx="6720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研究中两类H1N1的体外选择性比值；不是临床治疗窗。数据据原文重绘。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1792" y="5943600"/>
            <a:ext cx="6793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据文献数据重绘 [4]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891272" y="2286000"/>
            <a:ext cx="36484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黄芩素选择性比值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2.5与2.3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文献结果，非NP数据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外部文献实例：黄芩素不是已确认的植物X或NP；不作为本课题前期结果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研究内容一｜粗提物候选价值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粗提物抗流感候选价值</a:t>
            </a:r>
            <a:endParaRPr lang="en-US" sz="2400" dirty="0"/>
          </a:p>
        </p:txBody>
      </p:sp>
      <p:pic>
        <p:nvPicPr>
          <p:cNvPr id="5" name="Image 0" descr="两条平行证据带：上方为粗提物 X 的抗流感效应证据，下方为宿主状态证据；两者共同指向候选价值判断。采用无数值的关系图，避免暗示已有阳性结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911096"/>
            <a:ext cx="3881628" cy="2587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3093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评价粗提物 X 的效应与可复核性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093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交付：粗提物证据判断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2366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效应与宿主安全性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031986" y="267919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52044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048256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084832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并列呈现效应与安全性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500366" y="2889504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2926080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辨别有益信号与损伤信号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00366" y="3730752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3767328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标明候选价值的适用范围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2366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0595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同时关注选择性，区分效应与宿主损伤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50595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交付：效应—安全性边界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拟议研究内容｜需项目方确认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研究内容二｜活性成分与候选评价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活性成分与NP</a:t>
            </a:r>
            <a:endParaRPr lang="en-US" sz="2400" dirty="0"/>
          </a:p>
        </p:txBody>
      </p:sp>
      <p:pic>
        <p:nvPicPr>
          <p:cNvPr id="5" name="Image 0" descr="左侧为粗提物 X 的成分资料，中间为候选成分 NP 及其他待确认成分，右侧为效应证据；关联线使用虚线，表示拟检验的关系而非已证因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911096"/>
            <a:ext cx="3881628" cy="2587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3093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对应成分身份与效应，区分关联和因果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093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交付：成分—效应关联图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2366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候选评价与优先级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031986" y="267919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52044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048256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084832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比较成分身份的可信度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500366" y="2889504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2926080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并列效应与安全性支持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00366" y="3730752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3767328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形成优先级及保留理由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2366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0595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综合成分明确性、效应与安全性资料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50595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交付：候选优先级及理由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拟议研究内容｜需项目方确认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研究内容三｜作用解释与转化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直接作用与宿主反应</a:t>
            </a:r>
            <a:endParaRPr lang="en-US" sz="2400" dirty="0"/>
          </a:p>
        </p:txBody>
      </p:sp>
      <p:pic>
        <p:nvPicPr>
          <p:cNvPr id="5" name="Image 0" descr="NP 居中，上分支连接直接作用假设，下分支连接宿主反应假设；两支各连接可解释现象与尚缺证据，末端汇合至综合机制解释。全部箭头标为待检验关系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911096"/>
            <a:ext cx="3881628" cy="2587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AI设计示意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3093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比较两类假设，识别关键分歧与证据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093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交付：作用假设与关键分歧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23660" y="1179576"/>
            <a:ext cx="52166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开发与转化边界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031986" y="267919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52044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048256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084832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核对机制解释与效应一致性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500366" y="2889504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2926080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识别选择性与成分稳定性疑问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00366" y="3730752"/>
            <a:ext cx="3063240" cy="6309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3767328"/>
            <a:ext cx="2962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界定后续开发与转化边界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23660" y="4544568"/>
            <a:ext cx="5216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05956" y="4837176"/>
            <a:ext cx="5052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核对效应与机制一致性，明确待补证据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505956" y="5532120"/>
            <a:ext cx="50520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交付：后续开发依据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拟议研究内容｜需项目方确认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研究计划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583055" y="1216152"/>
            <a:ext cx="512064" cy="512064"/>
          </a:xfrm>
          <a:prstGeom prst="ellipse">
            <a:avLst/>
          </a:prstGeom>
          <a:solidFill>
            <a:srgbClr val="07523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83055" y="1243584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195703" y="1472184"/>
            <a:ext cx="2123694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548640" y="1892808"/>
            <a:ext cx="258089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效应与边界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839087" y="323392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39087" y="399897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22376" y="2679192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2668" y="2715768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明确研究对象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22376" y="3444240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2668" y="3480816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确定核心比较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2376" y="4209288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2668" y="4245864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形成解释规则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5001768"/>
            <a:ext cx="2580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" y="5376672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形成核心问题、比较关系与结果解释规则。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5216" y="6044184"/>
            <a:ext cx="25077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效应—安全性框架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419981" y="1216152"/>
            <a:ext cx="512064" cy="512064"/>
          </a:xfrm>
          <a:prstGeom prst="ellipse">
            <a:avLst/>
          </a:prstGeom>
          <a:solidFill>
            <a:srgbClr val="07523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9981" y="1243584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032629" y="1472184"/>
            <a:ext cx="2123694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3385566" y="1892808"/>
            <a:ext cx="258089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成分与候选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676013" y="323392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676013" y="399897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559302" y="2679192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09594" y="2715768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核对植物与成分资料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559302" y="3444240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9594" y="3480816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对应成分与效应线索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559302" y="4209288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9594" y="4245864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形成候选清单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385566" y="5001768"/>
            <a:ext cx="2580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22142" y="5376672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区分成分确认、关联线索与待核查信息。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422142" y="6044184"/>
            <a:ext cx="25077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成分证据与候选清单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256907" y="1216152"/>
            <a:ext cx="512064" cy="512064"/>
          </a:xfrm>
          <a:prstGeom prst="ellipse">
            <a:avLst/>
          </a:prstGeom>
          <a:solidFill>
            <a:srgbClr val="07523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56907" y="1243584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3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869555" y="1472184"/>
            <a:ext cx="2123694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222492" y="1892808"/>
            <a:ext cx="258089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机制与分歧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7512939" y="323392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12939" y="399897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396228" y="2679192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2715768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列出作用解释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96228" y="3444240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3480816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识别关键分歧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6228" y="4209288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4245864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整理支持与反驳证据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222492" y="5001768"/>
            <a:ext cx="2580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259068" y="5376672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形成可检验假设及不同结果的解释路径。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259068" y="6044184"/>
            <a:ext cx="25077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作用假设与分歧图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0093833" y="1216152"/>
            <a:ext cx="512064" cy="512064"/>
          </a:xfrm>
          <a:prstGeom prst="ellipse">
            <a:avLst/>
          </a:prstGeom>
          <a:solidFill>
            <a:srgbClr val="07523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93833" y="1243584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9059418" y="1892808"/>
            <a:ext cx="258089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复核与转化</a:t>
            </a:r>
            <a:endParaRPr lang="en-US" sz="2200" dirty="0"/>
          </a:p>
        </p:txBody>
      </p:sp>
      <p:sp>
        <p:nvSpPr>
          <p:cNvPr id="52" name="Shape 50"/>
          <p:cNvSpPr/>
          <p:nvPr/>
        </p:nvSpPr>
        <p:spPr>
          <a:xfrm>
            <a:off x="10349865" y="323392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0349865" y="399897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9233154" y="2679192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83446" y="2715768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复核关键证据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233154" y="3444240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283446" y="3480816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界定可支持结论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9233154" y="4209288"/>
            <a:ext cx="2233422" cy="554736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CBDBD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3446" y="4245864"/>
            <a:ext cx="2132838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形成后续研究依据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9059418" y="5001768"/>
            <a:ext cx="2580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拟议研究设计示意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095994" y="5376672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明确可支持结论、剩余疑问与后续开发边界。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9095994" y="6044184"/>
            <a:ext cx="25077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后续研究依据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521208" y="6400800"/>
            <a:ext cx="10634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拟议计划｜阶段与交付物待项目确认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参考文献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912" y="129844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[1] Li Li et al. Influenza-associated excess respiratory mortality in China, 2010–15: a population-based study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The Lancet Public Health 2019 · DOI: 10.1016/S2468-2667(19)30163-X</a:t>
            </a:r>
            <a:endParaRPr lang="en-US" sz="14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438912" y="226771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https://pubmed.ncbi.nlm.nih.gov/31493844/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3288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[2] Hayden FG et al. Baloxavir Marboxil for Uncomplicated Influenza in Adults and Adolescents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New England Journal of Medicine 2018 · DOI: 10.1056/NEJMoa1716197</a:t>
            </a:r>
            <a:endParaRPr lang="en-US" sz="14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438912" y="350215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https://www.nejm.org/doi/full/10.1056/NEJMoa1716197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376732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[3] Ping Geng et al. Baicalin Inhibits Influenza A Virus Infection via Promotion of M1 Macrophage Polarization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Frontiers in Pharmacology 2020 · DOI: 10.3389/fphar.2020.01298</a:t>
            </a:r>
            <a:endParaRPr lang="en-US" sz="140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438912" y="473659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https://doi.org/10.3389/fphar.2020.01298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" y="500176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[4] Mann-Jen Hour et al. Baicalein, Ethyl Acetate, and Chloroform Extracts of Scutellaria baicalensis Inhibit the Neuraminidase Activity of Pandemic 2009 H1N1 and Seasonal Influenza A Viruses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Evidence-Based Complementary and Alternative Medicine 2013 · DOI: 10.1155/2013/750803</a:t>
            </a:r>
            <a:endParaRPr lang="en-US" sz="140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438912" y="597103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https://doi.org/10.1155/2013/750803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6291072"/>
            <a:ext cx="11109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776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题录核实与具体主张核实分别记录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Unicode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 Unicode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植物来源天然产物的抗流感候选价值与活性成分研究</dc:title>
  <dc:subject>植物来源天然产物的抗流感候选价值与活性成分研究</dc:subject>
  <dc:creator>Research Slide Workflow</dc:creator>
  <cp:lastModifiedBy>Research Slide Workflow</cp:lastModifiedBy>
  <cp:revision>1</cp:revision>
  <dcterms:created xsi:type="dcterms:W3CDTF">2026-10-13T12:58:55Z</dcterms:created>
  <dcterms:modified xsi:type="dcterms:W3CDTF">2026-10-13T12:58:55Z</dcterms:modified>
</cp:coreProperties>
</file>